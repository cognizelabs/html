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4114800" cy="228600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b="1" sz="1400"/>
            </a:pPr>
            <a:r>
              <a:t>Strategic Investment</a:t>
            </a:r>
          </a:p>
          <a:p>
            <a:pPr lvl="1" algn="l">
              <a:defRPr sz="1200"/>
            </a:pPr>
            <a:r>
              <a:t>Long‑term funding puts LingoAI on par with core systems</a:t>
            </a:r>
          </a:p>
          <a:p>
            <a:pPr lvl="1" algn="l">
              <a:defRPr sz="1200"/>
            </a:pPr>
            <a:r>
              <a:t>Shared cloud stack: model hosting, vector search, event bus</a:t>
            </a:r>
          </a:p>
          <a:p>
            <a:pPr lvl="1" algn="l">
              <a:defRPr sz="1200"/>
            </a:pPr>
            <a:r>
              <a:t>Governance council aligns spend &amp; roadmap to business value</a:t>
            </a:r>
          </a:p>
        </p:txBody>
      </p:sp>
      <p:sp>
        <p:nvSpPr>
          <p:cNvPr id="3" name="Rectangle 2"/>
          <p:cNvSpPr/>
          <p:nvPr/>
        </p:nvSpPr>
        <p:spPr>
          <a:xfrm>
            <a:off x="4617720" y="274320"/>
            <a:ext cx="4114800" cy="228600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b="1" sz="1400"/>
            </a:pPr>
            <a:r>
              <a:t>Operating Model</a:t>
            </a:r>
          </a:p>
          <a:p>
            <a:pPr lvl="1" algn="l">
              <a:defRPr sz="1200"/>
            </a:pPr>
            <a:r>
              <a:t>R&amp;D pod partners with domain tech leads to prototype patterns</a:t>
            </a:r>
          </a:p>
          <a:p>
            <a:pPr lvl="1" algn="l">
              <a:defRPr sz="1200"/>
            </a:pPr>
            <a:r>
              <a:t>Inner‑source SDK repo with design reviews &amp; CI/CD templates</a:t>
            </a:r>
          </a:p>
          <a:p>
            <a:pPr lvl="1" algn="l">
              <a:defRPr sz="1200"/>
            </a:pPr>
            <a:r>
              <a:t>Lightweight RFC lets squads propose agents/tools &amp; get feedback fast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2788920"/>
            <a:ext cx="4114800" cy="228600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b="1" sz="1400"/>
            </a:pPr>
            <a:r>
              <a:t>AI‑Driven Innovation</a:t>
            </a:r>
          </a:p>
          <a:p>
            <a:pPr lvl="1" algn="l">
              <a:defRPr sz="1200"/>
            </a:pPr>
            <a:r>
              <a:t>Agents in Broker &amp; Employer Portal, TiC chat, plan recommendation</a:t>
            </a:r>
          </a:p>
          <a:p>
            <a:pPr lvl="1" algn="l">
              <a:defRPr sz="1200"/>
            </a:pPr>
            <a:r>
              <a:t>Reusable adapters surface legacy rules &amp; data without re‑plumbing</a:t>
            </a:r>
          </a:p>
          <a:p>
            <a:pPr lvl="1" algn="l">
              <a:defRPr sz="1200"/>
            </a:pPr>
            <a:r>
              <a:t>Offline evaluation harness delivers accuracy &amp; variance for AI Review 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4617720" y="2788920"/>
            <a:ext cx="4114800" cy="228600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b="1" sz="1400"/>
            </a:pPr>
            <a:r>
              <a:t>Cross‑Enterprise Impact</a:t>
            </a:r>
          </a:p>
          <a:p>
            <a:pPr lvl="1" algn="l">
              <a:defRPr sz="1200"/>
            </a:pPr>
            <a:r>
              <a:t>Boot camps &amp; mentoring seed AI champions in every squad</a:t>
            </a:r>
          </a:p>
          <a:p>
            <a:pPr lvl="1" algn="l">
              <a:defRPr sz="1200"/>
            </a:pPr>
            <a:r>
              <a:t>Unified telemetry stream visible to security, infra, product teams</a:t>
            </a:r>
          </a:p>
          <a:p>
            <a:pPr lvl="1" algn="l">
              <a:defRPr sz="1200"/>
            </a:pPr>
            <a:r>
              <a:t>Playbooks of early wins accelerate adoption across domains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