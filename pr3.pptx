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elegraf Bold" charset="1" panose="00000800000000000000"/>
      <p:regular r:id="rId11"/>
    </p:embeddedFont>
    <p:embeddedFont>
      <p:font typeface="Telegraf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53500"/>
            <a:chOff x="0" y="0"/>
            <a:chExt cx="928643" cy="1156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643" cy="1156192"/>
            </a:xfrm>
            <a:custGeom>
              <a:avLst/>
              <a:gdLst/>
              <a:ahLst/>
              <a:cxnLst/>
              <a:rect r="r" b="b" t="t" l="l"/>
              <a:pathLst>
                <a:path h="1156192" w="928643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3524250"/>
            <a:chOff x="0" y="0"/>
            <a:chExt cx="11099800" cy="4699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74750"/>
              <a:ext cx="11099800" cy="352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b="true" sz="9000" spc="-89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Unified AI Data Lake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1099800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9"/>
                </a:lnSpc>
              </a:pPr>
              <a:r>
                <a:rPr lang="en-US" b="true" sz="2999" spc="-29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Unified Data Concepts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9144000"/>
            <a:ext cx="83248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sz="3000" spc="-3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Presented by [Presenter Name]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850" y="7200900"/>
            <a:ext cx="5448300" cy="872080"/>
            <a:chOff x="0" y="0"/>
            <a:chExt cx="7264400" cy="11627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pc="-30" strike="noStrike" u="none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Sources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84407"/>
              <a:ext cx="72644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Diverse inputs feeding the data lake ecosystem.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7200900"/>
            <a:ext cx="5448300" cy="1224505"/>
            <a:chOff x="0" y="0"/>
            <a:chExt cx="7264400" cy="163267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pc="-30" strike="noStrike" u="none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Lakehouse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84407"/>
              <a:ext cx="7264400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Integrating Knowledge Graphs and multimodal data types.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647700"/>
            <a:ext cx="5448300" cy="30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 strike="noStrike" u="none">
                <a:solidFill>
                  <a:srgbClr val="0078D4"/>
                </a:solidFill>
                <a:latin typeface="Telegraf Bold"/>
                <a:ea typeface="Telegraf Bold"/>
                <a:cs typeface="Telegraf Bold"/>
                <a:sym typeface="Telegraf Bold"/>
              </a:rPr>
              <a:t>Unified AI Data Lake Pipeline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19850" y="666750"/>
            <a:ext cx="5448300" cy="6267450"/>
            <a:chOff x="0" y="0"/>
            <a:chExt cx="965789" cy="11109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5789" cy="1110995"/>
            </a:xfrm>
            <a:custGeom>
              <a:avLst/>
              <a:gdLst/>
              <a:ahLst/>
              <a:cxnLst/>
              <a:rect r="r" b="b" t="t" l="l"/>
              <a:pathLst>
                <a:path h="1110995" w="965789">
                  <a:moveTo>
                    <a:pt x="49734" y="0"/>
                  </a:moveTo>
                  <a:lnTo>
                    <a:pt x="916055" y="0"/>
                  </a:lnTo>
                  <a:cubicBezTo>
                    <a:pt x="943522" y="0"/>
                    <a:pt x="965789" y="22267"/>
                    <a:pt x="965789" y="49734"/>
                  </a:cubicBezTo>
                  <a:lnTo>
                    <a:pt x="965789" y="1061261"/>
                  </a:lnTo>
                  <a:cubicBezTo>
                    <a:pt x="965789" y="1088728"/>
                    <a:pt x="943522" y="1110995"/>
                    <a:pt x="916055" y="1110995"/>
                  </a:cubicBezTo>
                  <a:lnTo>
                    <a:pt x="49734" y="1110995"/>
                  </a:lnTo>
                  <a:cubicBezTo>
                    <a:pt x="22267" y="1110995"/>
                    <a:pt x="0" y="1088728"/>
                    <a:pt x="0" y="1061261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3" r="0" b="-10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72950" y="666750"/>
            <a:ext cx="5448300" cy="6267450"/>
            <a:chOff x="0" y="0"/>
            <a:chExt cx="965789" cy="11109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5789" cy="1110995"/>
            </a:xfrm>
            <a:custGeom>
              <a:avLst/>
              <a:gdLst/>
              <a:ahLst/>
              <a:cxnLst/>
              <a:rect r="r" b="b" t="t" l="l"/>
              <a:pathLst>
                <a:path h="1110995" w="965789">
                  <a:moveTo>
                    <a:pt x="49734" y="0"/>
                  </a:moveTo>
                  <a:lnTo>
                    <a:pt x="916055" y="0"/>
                  </a:lnTo>
                  <a:cubicBezTo>
                    <a:pt x="943522" y="0"/>
                    <a:pt x="965789" y="22267"/>
                    <a:pt x="965789" y="49734"/>
                  </a:cubicBezTo>
                  <a:lnTo>
                    <a:pt x="965789" y="1061261"/>
                  </a:lnTo>
                  <a:cubicBezTo>
                    <a:pt x="965789" y="1088728"/>
                    <a:pt x="943522" y="1110995"/>
                    <a:pt x="916055" y="1110995"/>
                  </a:cubicBezTo>
                  <a:lnTo>
                    <a:pt x="49734" y="1110995"/>
                  </a:lnTo>
                  <a:cubicBezTo>
                    <a:pt x="22267" y="1110995"/>
                    <a:pt x="0" y="1088728"/>
                    <a:pt x="0" y="1061261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007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66750" y="9466905"/>
            <a:ext cx="257175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EXPLANATION OF KEY PIPELINE STAGES.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40897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47700"/>
            <a:ext cx="1263967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 strike="noStrike" u="none">
                <a:solidFill>
                  <a:srgbClr val="0078D4"/>
                </a:solidFill>
                <a:latin typeface="Telegraf Bold"/>
                <a:ea typeface="Telegraf Bold"/>
                <a:cs typeface="Telegraf Bold"/>
                <a:sym typeface="Telegraf Bold"/>
              </a:rPr>
              <a:t>Pipeline Elements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2457450"/>
            <a:ext cx="5448300" cy="4476750"/>
            <a:chOff x="0" y="0"/>
            <a:chExt cx="1253985" cy="10303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3985" cy="1030373"/>
            </a:xfrm>
            <a:custGeom>
              <a:avLst/>
              <a:gdLst/>
              <a:ahLst/>
              <a:cxnLst/>
              <a:rect r="r" b="b" t="t" l="l"/>
              <a:pathLst>
                <a:path h="1030373" w="1253985">
                  <a:moveTo>
                    <a:pt x="49734" y="0"/>
                  </a:moveTo>
                  <a:lnTo>
                    <a:pt x="1204251" y="0"/>
                  </a:lnTo>
                  <a:cubicBezTo>
                    <a:pt x="1231719" y="0"/>
                    <a:pt x="1253985" y="22267"/>
                    <a:pt x="1253985" y="49734"/>
                  </a:cubicBezTo>
                  <a:lnTo>
                    <a:pt x="1253985" y="980638"/>
                  </a:lnTo>
                  <a:cubicBezTo>
                    <a:pt x="1253985" y="1008106"/>
                    <a:pt x="1231719" y="1030373"/>
                    <a:pt x="1204251" y="1030373"/>
                  </a:cubicBezTo>
                  <a:lnTo>
                    <a:pt x="49734" y="1030373"/>
                  </a:lnTo>
                  <a:cubicBezTo>
                    <a:pt x="22267" y="1030373"/>
                    <a:pt x="0" y="1008106"/>
                    <a:pt x="0" y="980638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-332" t="0" r="-33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19850" y="2457450"/>
            <a:ext cx="5448300" cy="4476750"/>
            <a:chOff x="0" y="0"/>
            <a:chExt cx="1253985" cy="1030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3985" cy="1030373"/>
            </a:xfrm>
            <a:custGeom>
              <a:avLst/>
              <a:gdLst/>
              <a:ahLst/>
              <a:cxnLst/>
              <a:rect r="r" b="b" t="t" l="l"/>
              <a:pathLst>
                <a:path h="1030373" w="1253985">
                  <a:moveTo>
                    <a:pt x="49734" y="0"/>
                  </a:moveTo>
                  <a:lnTo>
                    <a:pt x="1204251" y="0"/>
                  </a:lnTo>
                  <a:cubicBezTo>
                    <a:pt x="1231719" y="0"/>
                    <a:pt x="1253985" y="22267"/>
                    <a:pt x="1253985" y="49734"/>
                  </a:cubicBezTo>
                  <a:lnTo>
                    <a:pt x="1253985" y="980638"/>
                  </a:lnTo>
                  <a:cubicBezTo>
                    <a:pt x="1253985" y="1008106"/>
                    <a:pt x="1231719" y="1030373"/>
                    <a:pt x="1204251" y="1030373"/>
                  </a:cubicBezTo>
                  <a:lnTo>
                    <a:pt x="49734" y="1030373"/>
                  </a:lnTo>
                  <a:cubicBezTo>
                    <a:pt x="22267" y="1030373"/>
                    <a:pt x="0" y="1008106"/>
                    <a:pt x="0" y="980638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-332" t="0" r="-33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2457450"/>
            <a:ext cx="5448300" cy="4476750"/>
            <a:chOff x="0" y="0"/>
            <a:chExt cx="1253985" cy="10303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985" cy="1030373"/>
            </a:xfrm>
            <a:custGeom>
              <a:avLst/>
              <a:gdLst/>
              <a:ahLst/>
              <a:cxnLst/>
              <a:rect r="r" b="b" t="t" l="l"/>
              <a:pathLst>
                <a:path h="1030373" w="1253985">
                  <a:moveTo>
                    <a:pt x="49734" y="0"/>
                  </a:moveTo>
                  <a:lnTo>
                    <a:pt x="1204251" y="0"/>
                  </a:lnTo>
                  <a:cubicBezTo>
                    <a:pt x="1231719" y="0"/>
                    <a:pt x="1253985" y="22267"/>
                    <a:pt x="1253985" y="49734"/>
                  </a:cubicBezTo>
                  <a:lnTo>
                    <a:pt x="1253985" y="980638"/>
                  </a:lnTo>
                  <a:cubicBezTo>
                    <a:pt x="1253985" y="1008106"/>
                    <a:pt x="1231719" y="1030373"/>
                    <a:pt x="1204251" y="1030373"/>
                  </a:cubicBezTo>
                  <a:lnTo>
                    <a:pt x="49734" y="1030373"/>
                  </a:lnTo>
                  <a:cubicBezTo>
                    <a:pt x="22267" y="1030373"/>
                    <a:pt x="0" y="1008106"/>
                    <a:pt x="0" y="980638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025" y="7200900"/>
            <a:ext cx="5449025" cy="1247789"/>
            <a:chOff x="0" y="0"/>
            <a:chExt cx="7265367" cy="166371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726536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pc="-30" strike="noStrike" u="none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Sources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15451"/>
              <a:ext cx="7265367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Diverse inputs like databases and documents fuel insights.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7200900"/>
            <a:ext cx="5448300" cy="1247789"/>
            <a:chOff x="0" y="0"/>
            <a:chExt cx="7264400" cy="166371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pc="-30" strike="noStrike" u="none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 Agents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15451"/>
              <a:ext cx="7264400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Intelligent automation drives actionable insights from data.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19850" y="7200900"/>
            <a:ext cx="5448300" cy="1282700"/>
            <a:chOff x="0" y="0"/>
            <a:chExt cx="7264400" cy="1710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pc="-30" strike="noStrike" u="none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Lakehouse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62000"/>
              <a:ext cx="7264400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Knowledge Graph combines data types for richer context.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007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FURTHER NOTES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14988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1275" y="4290405"/>
            <a:ext cx="6861700" cy="1109326"/>
            <a:chOff x="0" y="0"/>
            <a:chExt cx="9148933" cy="147910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00735"/>
              <a:ext cx="9148933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Centralized data minimizes redundancy across all sources.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4893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Reduction in Duplicates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1275" y="1428143"/>
            <a:ext cx="6861700" cy="1461751"/>
            <a:chOff x="0" y="0"/>
            <a:chExt cx="9148933" cy="194900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00735"/>
              <a:ext cx="9148933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Enhanced algorithms enable quicker access to valuable insights.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4893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Faster Discovery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24222" y="6800243"/>
            <a:ext cx="6858753" cy="1480123"/>
            <a:chOff x="0" y="0"/>
            <a:chExt cx="9145004" cy="197349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914500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Greater Accuracy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25231"/>
              <a:ext cx="9145004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Improved models yield more reliable and actionable predictions.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337"/>
            <a:ext cx="6886575" cy="301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0078D4"/>
                </a:solidFill>
                <a:latin typeface="Telegraf Bold"/>
                <a:ea typeface="Telegraf Bold"/>
                <a:cs typeface="Telegraf Bold"/>
                <a:sym typeface="Telegraf Bold"/>
              </a:rPr>
              <a:t>Business Benefits of AI Data Lake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007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66750" y="9571680"/>
            <a:ext cx="257175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 FOR YOUR ATTENTION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1598784"/>
            <a:chOff x="0" y="0"/>
            <a:chExt cx="14935200" cy="213171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42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Contact Information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503062"/>
              <a:ext cx="149352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Stay in Touch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5448300" cy="4476750"/>
            <a:chOff x="0" y="0"/>
            <a:chExt cx="7264400" cy="596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72644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pc="-30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Phone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90873"/>
              <a:ext cx="72644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123-456-7890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07385"/>
              <a:ext cx="72644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pc="-30" strike="noStrike" u="none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Email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103033"/>
              <a:ext cx="72644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hello@reallygreatsite.com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694985"/>
              <a:ext cx="72644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pc="-30" strike="noStrike" u="none">
                  <a:solidFill>
                    <a:srgbClr val="0078D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Website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490633"/>
              <a:ext cx="72644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 strike="noStrike" u="none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www.reallygreatsite.com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Unified AI Data Lake</dc:description>
  <dc:identifier>DAG3rz2MQQM</dc:identifier>
  <dcterms:modified xsi:type="dcterms:W3CDTF">2011-08-01T06:04:30Z</dcterms:modified>
  <cp:revision>1</cp:revision>
  <dc:title>Presentation - Unified AI Data Lake</dc:title>
</cp:coreProperties>
</file>