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Industry Trends — 2026: From Models to Measurable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Headline: AI is entering the 'Value Delivery' phase — where integration and governance matter more than model size.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Trend 1 – Smaller, Domain-Tuned Models (SLMs): Enterprises are moving from massive general LLMs to small, specialized models that are faster, cheaper, and easier to govern.</a:t>
            </a:r>
          </a:p>
          <a:p>
            <a:pPr>
              <a:defRPr sz="1800"/>
            </a:pPr>
            <a:r>
              <a:t>Trend 2 – Multi-Agent Ecosystems: Businesses are orchestrating multiple cooperating agents (customer, compliance, data) to automate cross-department workflows.</a:t>
            </a:r>
          </a:p>
          <a:p>
            <a:pPr>
              <a:defRPr sz="1800"/>
            </a:pPr>
            <a:r>
              <a:t>Trend 3 – AI + Data Convergence: Real value now comes from AI built on governed, unified data — not disconnected silos.</a:t>
            </a:r>
          </a:p>
          <a:p>
            <a:pPr>
              <a:defRPr sz="1800"/>
            </a:pPr>
            <a:r>
              <a:t>Trend 4 – Trust, Transparency &amp; Regulation: Companies differentiate through responsible AI — clear lineage, auditability, and human-in-the-loop.</a:t>
            </a:r>
          </a:p>
          <a:p>
            <a:pPr>
              <a:defRPr sz="1800"/>
            </a:pPr>
            <a:r>
              <a:t>Trend 5 – Shift to Cloud-Native AI Infrastructure: Migration to Azure, AWS, or GCP allows scalable compute, standardized security, and lower TCO.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Research Edge:</a:t>
            </a:r>
          </a:p>
          <a:p>
            <a:pPr>
              <a:defRPr sz="1800"/>
            </a:pPr>
            <a:r>
              <a:t>• RFM (Relational Foundational Models): Foundation models that reason over relationships (Employer ↔ Plan ↔ Network ↔ Broker), enabling in-context learning and explainability.</a:t>
            </a:r>
          </a:p>
          <a:p>
            <a:pPr>
              <a:defRPr sz="1800"/>
            </a:pPr>
            <a:r>
              <a:t>• Multimodal Ingestion: Integrating PDFs, tables, and images into the unified data lake for page-level citations and richer AI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000"/>
            </a:pPr>
            <a:r>
              <a:t>Source: Kumo AI Research (Relational Foundational Models, 2025); Gartner; IDC; McKinsey; PwC AI Outlook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LingoScope — Trust, Transparency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Operational Safety Nets for Enterprise AI:</a:t>
            </a:r>
          </a:p>
          <a:p>
            <a:pPr>
              <a:defRPr sz="1800"/>
            </a:pPr>
            <a:r>
              <a:t>• Kill Switch – Instantly disable faulty or non-compliant agents; reduces reputational and regulatory risk.</a:t>
            </a:r>
          </a:p>
          <a:p>
            <a:pPr>
              <a:defRPr sz="1800"/>
            </a:pPr>
            <a:r>
              <a:t>• Replay &amp; Backout – Recreate or undo AI sessions; enables full auditability and faster root-cause analysis.</a:t>
            </a:r>
          </a:p>
          <a:p>
            <a:pPr>
              <a:defRPr sz="1800"/>
            </a:pPr>
            <a:r>
              <a:t>• Compliance Agent Integration – Every AI response passes toxicity and policy checks before delivery.</a:t>
            </a:r>
          </a:p>
          <a:p>
            <a:pPr>
              <a:defRPr sz="1800"/>
            </a:pPr>
            <a:r>
              <a:t>• Performance &amp; Cost Insights – Track usage, latency, and ROI per agent for data-driven decisions.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Business Value:</a:t>
            </a:r>
          </a:p>
          <a:p>
            <a:pPr>
              <a:defRPr sz="1800"/>
            </a:pPr>
            <a:r>
              <a:t>• Builds trust and transparency across leadership and regulators.</a:t>
            </a:r>
          </a:p>
          <a:p>
            <a:pPr>
              <a:defRPr sz="1800"/>
            </a:pPr>
            <a:r>
              <a:t>• Reduces incident recovery time by ~30%.</a:t>
            </a:r>
          </a:p>
          <a:p>
            <a:pPr>
              <a:defRPr sz="1800"/>
            </a:pPr>
            <a:r>
              <a:t>• Supports continuous compliance monitoring and safe AI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AI Data Lake — Connecting Every Decision to a Trusted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 single, governed data layer combining structured + unstructured + graph + vector data for AI and analytics.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Core Components:</a:t>
            </a:r>
          </a:p>
          <a:p>
            <a:pPr>
              <a:defRPr sz="1800"/>
            </a:pPr>
            <a:r>
              <a:t>• Knowledge Graph – Links employers, plans, brokers, and providers for 360° visibility.</a:t>
            </a:r>
          </a:p>
          <a:p>
            <a:pPr>
              <a:defRPr sz="1800"/>
            </a:pPr>
            <a:r>
              <a:t>• Vector Search + RAG – Retrieves precise, evidence-based answers from SBCs, policies, and claims.</a:t>
            </a:r>
          </a:p>
          <a:p>
            <a:pPr>
              <a:defRPr sz="1800"/>
            </a:pPr>
            <a:r>
              <a:t>• Multimodal Storage – Supports PDFs, tables, and images for richer retrieval.</a:t>
            </a:r>
          </a:p>
          <a:p>
            <a:pPr>
              <a:defRPr sz="1800"/>
            </a:pPr>
            <a:r>
              <a:t>• Governed Schemas – AI_Event, Doc_Chunk ensure lineage and traceability.</a:t>
            </a:r>
          </a:p>
          <a:p>
            <a:pPr>
              <a:defRPr sz="1800"/>
            </a:pPr>
            <a:r>
              <a:t>• Azure Cloud Hosting – Scalable, compliant, and cost-optimized.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Business Benefits:</a:t>
            </a:r>
          </a:p>
          <a:p>
            <a:pPr>
              <a:defRPr sz="1800"/>
            </a:pPr>
            <a:r>
              <a:t>• 20–25% faster data discovery and reuse across lines of business.</a:t>
            </a:r>
          </a:p>
          <a:p>
            <a:pPr>
              <a:defRPr sz="1800"/>
            </a:pPr>
            <a:r>
              <a:t>• Improved accuracy and trust in AI-driven recommendations.</a:t>
            </a:r>
          </a:p>
          <a:p>
            <a:pPr>
              <a:defRPr sz="1800"/>
            </a:pPr>
            <a:r>
              <a:t>• Lower engineering cost through reusable, governed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