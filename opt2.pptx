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F2041"/>
                </a:solidFill>
              </a:defRPr>
            </a:pPr>
            <a:r>
              <a:t>LingoGen Platform – Accelerating Agentic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1417320"/>
          </a:xfrm>
          <a:prstGeom prst="rect">
            <a:avLst/>
          </a:prstGeom>
          <a:solidFill>
            <a:srgbClr val="E3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173480"/>
            <a:ext cx="2194560" cy="381000"/>
          </a:xfrm>
          <a:prstGeom prst="round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Unified Agentic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579880"/>
            <a:ext cx="17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14040" y="1579880"/>
            <a:ext cx="259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Multi‑agent orchestration (LangGraph)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1579880"/>
            <a:ext cx="17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5840" y="1579880"/>
            <a:ext cx="259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Tool registry &amp; versioning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1859280"/>
            <a:ext cx="17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4040" y="1859280"/>
            <a:ext cx="259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Zero‑code agent templates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859280"/>
            <a:ext cx="17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5840" y="1859280"/>
            <a:ext cx="259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Conversation memory adapters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138680"/>
            <a:ext cx="17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4040" y="2138680"/>
            <a:ext cx="259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Language‑agnostic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2606040"/>
            <a:ext cx="9144000" cy="1417320"/>
          </a:xfrm>
          <a:prstGeom prst="rect">
            <a:avLst/>
          </a:prstGeom>
          <a:solidFill>
            <a:srgbClr val="E0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2682240"/>
            <a:ext cx="2194560" cy="3810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Developer Velocity &amp; Offline 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3088640"/>
            <a:ext cx="17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4040" y="3088640"/>
            <a:ext cx="259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Python / TS SDKs &amp; notebooks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088640"/>
            <a:ext cx="17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🖥️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5840" y="3088640"/>
            <a:ext cx="259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CLI scaffolds &amp; live‑reload 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3368040"/>
            <a:ext cx="17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14040" y="3368040"/>
            <a:ext cx="259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Offline RAG eval: latency &amp;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3368040"/>
            <a:ext cx="17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5840" y="3368040"/>
            <a:ext cx="259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Synthetic load generator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647440"/>
            <a:ext cx="17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14040" y="3647440"/>
            <a:ext cx="259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CI/CD blueprints (GH, Azure)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114800"/>
            <a:ext cx="9144000" cy="1417320"/>
          </a:xfrm>
          <a:prstGeom prst="rect">
            <a:avLst/>
          </a:prstGeom>
          <a:solidFill>
            <a:srgbClr val="FF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5760" y="4191000"/>
            <a:ext cx="2194560" cy="381000"/>
          </a:xfrm>
          <a:prstGeom prst="round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Security, Governance &amp; AIRB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4597400"/>
            <a:ext cx="17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🛡️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14040" y="4597400"/>
            <a:ext cx="259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OIDC SSO, RBAC &amp; ABAC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4597400"/>
            <a:ext cx="17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🕵️‍♂️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5840" y="4597400"/>
            <a:ext cx="259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DLP, PII masking, redaction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4876800"/>
            <a:ext cx="17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14040" y="4876800"/>
            <a:ext cx="259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Per‑agent kill‑switches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4876800"/>
            <a:ext cx="17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85840" y="4876800"/>
            <a:ext cx="259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Secrets vault &amp; key rotation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34640" y="5156200"/>
            <a:ext cx="17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14040" y="5156200"/>
            <a:ext cx="259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AIRB evidence &amp; risk score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5623560"/>
            <a:ext cx="9144000" cy="1417320"/>
          </a:xfrm>
          <a:prstGeom prst="rect">
            <a:avLst/>
          </a:prstGeom>
          <a:solidFill>
            <a:srgbClr val="F3E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65760" y="5699760"/>
            <a:ext cx="2194560" cy="381000"/>
          </a:xfrm>
          <a:prstGeom prst="roundRect">
            <a:avLst/>
          </a:prstGeom>
          <a:solidFill>
            <a:srgbClr val="6A0D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Observability &amp; R&amp;D Collaboration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34640" y="6106160"/>
            <a:ext cx="17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14040" y="6106160"/>
            <a:ext cx="259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LingoScope dashboards &amp; heatmaps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6440" y="6106160"/>
            <a:ext cx="17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85840" y="6106160"/>
            <a:ext cx="259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Dynatrace &amp; OTEL hooks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34640" y="6385560"/>
            <a:ext cx="17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👍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14040" y="6385560"/>
            <a:ext cx="259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User feedback capture &amp; analysis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06440" y="6385560"/>
            <a:ext cx="17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5840" y="6385560"/>
            <a:ext cx="259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MCP &amp; A2A protocol prototypes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34640" y="6664960"/>
            <a:ext cx="177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14040" y="6664960"/>
            <a:ext cx="259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1E1E1E"/>
                </a:solidFill>
              </a:defRPr>
            </a:pPr>
            <a:r>
              <a:t>Cross‑team guild demos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