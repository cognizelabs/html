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Georgia Pro Light" charset="1" panose="02040302050405020303"/>
      <p:regular r:id="rId12"/>
    </p:embeddedFont>
    <p:embeddedFont>
      <p:font typeface="DM Sans" charset="1" panose="00000000000000000000"/>
      <p:regular r:id="rId13"/>
    </p:embeddedFont>
    <p:embeddedFont>
      <p:font typeface="DM Sans Bold" charset="1" panose="000000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991600" cy="10287000"/>
            <a:chOff x="0" y="0"/>
            <a:chExt cx="1035548" cy="11847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5548" cy="1184737"/>
            </a:xfrm>
            <a:custGeom>
              <a:avLst/>
              <a:gdLst/>
              <a:ahLst/>
              <a:cxnLst/>
              <a:rect r="r" b="b" t="t" l="l"/>
              <a:pathLst>
                <a:path h="1184737" w="1035548">
                  <a:moveTo>
                    <a:pt x="0" y="0"/>
                  </a:moveTo>
                  <a:lnTo>
                    <a:pt x="1035548" y="0"/>
                  </a:lnTo>
                  <a:lnTo>
                    <a:pt x="1035548" y="1184737"/>
                  </a:lnTo>
                  <a:lnTo>
                    <a:pt x="0" y="1184737"/>
                  </a:lnTo>
                  <a:close/>
                </a:path>
              </a:pathLst>
            </a:custGeom>
            <a:blipFill>
              <a:blip r:embed="rId2"/>
              <a:stretch>
                <a:fillRect l="0" t="-378" r="0" b="-37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744200" y="666750"/>
            <a:ext cx="6877050" cy="585084"/>
            <a:chOff x="0" y="0"/>
            <a:chExt cx="9169400" cy="780112"/>
          </a:xfrm>
        </p:grpSpPr>
        <p:sp>
          <p:nvSpPr>
            <p:cNvPr name="Freeform 5" id="5"/>
            <p:cNvSpPr/>
            <p:nvPr/>
          </p:nvSpPr>
          <p:spPr>
            <a:xfrm flipH="true" flipV="false" rot="-5400000">
              <a:off x="36553" y="74861"/>
              <a:ext cx="555143" cy="628248"/>
            </a:xfrm>
            <a:custGeom>
              <a:avLst/>
              <a:gdLst/>
              <a:ahLst/>
              <a:cxnLst/>
              <a:rect r="r" b="b" t="t" l="l"/>
              <a:pathLst>
                <a:path h="628248" w="555143">
                  <a:moveTo>
                    <a:pt x="555143" y="0"/>
                  </a:moveTo>
                  <a:lnTo>
                    <a:pt x="0" y="0"/>
                  </a:lnTo>
                  <a:lnTo>
                    <a:pt x="0" y="628248"/>
                  </a:lnTo>
                  <a:lnTo>
                    <a:pt x="555143" y="628248"/>
                  </a:lnTo>
                  <a:lnTo>
                    <a:pt x="555143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795304" y="95250"/>
              <a:ext cx="8374096" cy="6848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55"/>
                </a:lnSpc>
              </a:pPr>
              <a:r>
                <a:rPr lang="en-US" sz="3864" spc="-77">
                  <a:solidFill>
                    <a:srgbClr val="0078D4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Unified AI Solutions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734675" y="1562100"/>
            <a:ext cx="6886575" cy="4337753"/>
            <a:chOff x="0" y="0"/>
            <a:chExt cx="9182100" cy="578367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200025"/>
              <a:ext cx="9182100" cy="36861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99"/>
                </a:lnSpc>
              </a:pPr>
              <a:r>
                <a:rPr lang="en-US" sz="10499">
                  <a:solidFill>
                    <a:srgbClr val="0078D4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AI Data Lake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4137115"/>
              <a:ext cx="9172670" cy="16465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039"/>
                </a:lnSpc>
              </a:pPr>
              <a:r>
                <a:rPr lang="en-US" sz="3599">
                  <a:solidFill>
                    <a:srgbClr val="0078D4"/>
                  </a:solidFill>
                  <a:latin typeface="DM Sans"/>
                  <a:ea typeface="DM Sans"/>
                  <a:cs typeface="DM Sans"/>
                  <a:sym typeface="DM Sans"/>
                </a:rPr>
                <a:t>Connecting Every Decision to a Trusted Source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744200" y="8740903"/>
            <a:ext cx="5743575" cy="888872"/>
            <a:chOff x="0" y="0"/>
            <a:chExt cx="7658100" cy="1185162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691344"/>
              <a:ext cx="7658100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  <a:spcBef>
                  <a:spcPct val="0"/>
                </a:spcBef>
              </a:pPr>
              <a:r>
                <a:rPr lang="en-US" sz="2200">
                  <a:solidFill>
                    <a:srgbClr val="222222"/>
                  </a:solidFill>
                  <a:latin typeface="DM Sans"/>
                  <a:ea typeface="DM Sans"/>
                  <a:cs typeface="DM Sans"/>
                  <a:sym typeface="DM Sans"/>
                </a:rPr>
                <a:t>Jane Doe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-47625"/>
              <a:ext cx="7658100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b="true" sz="2600">
                  <a:solidFill>
                    <a:srgbClr val="0078D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PRESENTED BY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0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0"/>
            <a:ext cx="7553325" cy="10287000"/>
            <a:chOff x="0" y="0"/>
            <a:chExt cx="1170208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208" cy="1593725"/>
            </a:xfrm>
            <a:custGeom>
              <a:avLst/>
              <a:gdLst/>
              <a:ahLst/>
              <a:cxnLst/>
              <a:rect r="r" b="b" t="t" l="l"/>
              <a:pathLst>
                <a:path h="1593725" w="1170208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205" r="0" b="-20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8324850" cy="2632656"/>
            <a:chOff x="0" y="0"/>
            <a:chExt cx="11099800" cy="3510208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66675"/>
              <a:ext cx="11099800" cy="15546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</a:pPr>
              <a:r>
                <a:rPr lang="en-US" sz="8000">
                  <a:solidFill>
                    <a:srgbClr val="0078D4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Fragmented Data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047803"/>
              <a:ext cx="11099800" cy="1462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222222"/>
                  </a:solidFill>
                  <a:latin typeface="DM Sans"/>
                  <a:ea typeface="DM Sans"/>
                  <a:cs typeface="DM Sans"/>
                  <a:sym typeface="DM Sans"/>
                </a:rPr>
                <a:t>Fragmented data leads to </a:t>
              </a:r>
              <a:r>
                <a:rPr lang="en-US" b="true" sz="2100">
                  <a:solidFill>
                    <a:srgbClr val="222222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inconsistent insights</a:t>
              </a:r>
              <a:r>
                <a:rPr lang="en-US" sz="2100">
                  <a:solidFill>
                    <a:srgbClr val="222222"/>
                  </a:solidFill>
                  <a:latin typeface="DM Sans"/>
                  <a:ea typeface="DM Sans"/>
                  <a:cs typeface="DM Sans"/>
                  <a:sym typeface="DM Sans"/>
                </a:rPr>
                <a:t> across organizations, hindering effective decision-making and preventing teams from leveraging critical information efficiently.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0"/>
            <a:ext cx="7553325" cy="10287000"/>
            <a:chOff x="0" y="0"/>
            <a:chExt cx="1170208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208" cy="1593725"/>
            </a:xfrm>
            <a:custGeom>
              <a:avLst/>
              <a:gdLst/>
              <a:ahLst/>
              <a:cxnLst/>
              <a:rect r="r" b="b" t="t" l="l"/>
              <a:pathLst>
                <a:path h="1593725" w="1170208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205" r="0" b="-20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8324850" cy="2632656"/>
            <a:chOff x="0" y="0"/>
            <a:chExt cx="11099800" cy="3510208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66675"/>
              <a:ext cx="11099800" cy="15546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</a:pPr>
              <a:r>
                <a:rPr lang="en-US" sz="8000">
                  <a:solidFill>
                    <a:srgbClr val="0078D4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The Vision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047803"/>
              <a:ext cx="11099800" cy="1462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222222"/>
                  </a:solidFill>
                  <a:latin typeface="DM Sans"/>
                  <a:ea typeface="DM Sans"/>
                  <a:cs typeface="DM Sans"/>
                  <a:sym typeface="DM Sans"/>
                </a:rPr>
                <a:t>This section illustrates the </a:t>
              </a:r>
              <a:r>
                <a:rPr lang="en-US" b="true" sz="2100">
                  <a:solidFill>
                    <a:srgbClr val="222222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unified data flow</a:t>
              </a:r>
              <a:r>
                <a:rPr lang="en-US" sz="2100">
                  <a:solidFill>
                    <a:srgbClr val="222222"/>
                  </a:solidFill>
                  <a:latin typeface="DM Sans"/>
                  <a:ea typeface="DM Sans"/>
                  <a:cs typeface="DM Sans"/>
                  <a:sym typeface="DM Sans"/>
                </a:rPr>
                <a:t> and AI integration, showcasing how various data sources connect through a Lakehouse to deliver actionable business insights.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E6F0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7296150"/>
            <a:ext cx="7191375" cy="2324100"/>
            <a:chOff x="0" y="0"/>
            <a:chExt cx="9588500" cy="30988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141095"/>
              <a:ext cx="9588500" cy="19577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222222"/>
                  </a:solidFill>
                  <a:latin typeface="DM Sans"/>
                  <a:ea typeface="DM Sans"/>
                  <a:cs typeface="DM Sans"/>
                  <a:sym typeface="DM Sans"/>
                </a:rPr>
                <a:t>Multimodal Storage supports diverse data types, including PDFs, tables, and images, ensuring seamless access and integration, thereby enriching data analysis and enabling deeper insights for businesses.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47625"/>
              <a:ext cx="9588500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0078D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MULTIMODAL STORAGE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7296150"/>
            <a:ext cx="7191375" cy="2324100"/>
            <a:chOff x="0" y="0"/>
            <a:chExt cx="9588500" cy="30988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41095"/>
              <a:ext cx="9588500" cy="19577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222222"/>
                  </a:solidFill>
                  <a:latin typeface="DM Sans"/>
                  <a:ea typeface="DM Sans"/>
                  <a:cs typeface="DM Sans"/>
                  <a:sym typeface="DM Sans"/>
                </a:rPr>
                <a:t>Governed Schemas ensure data traceability and compliance, establishing a solid framework for data governance that promotes accountability and trust across all business functions and processes.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47625"/>
              <a:ext cx="9588500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0078D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GOVERNED SCHEMAS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6750" y="4248150"/>
            <a:ext cx="7191375" cy="2311400"/>
            <a:chOff x="0" y="0"/>
            <a:chExt cx="9588500" cy="3081867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124162"/>
              <a:ext cx="9588500" cy="19577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222222"/>
                  </a:solidFill>
                  <a:latin typeface="DM Sans"/>
                  <a:ea typeface="DM Sans"/>
                  <a:cs typeface="DM Sans"/>
                  <a:sym typeface="DM Sans"/>
                </a:rPr>
                <a:t>The Knowledge Graph enhances data relationships, allowing for a comprehensive understanding of interconnected information, leading to improved insights and informed decision-making across the organization.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47625"/>
              <a:ext cx="9588500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0078D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KNOWLEDGE GRAPH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96400" y="3876675"/>
            <a:ext cx="7191375" cy="2699385"/>
            <a:chOff x="0" y="0"/>
            <a:chExt cx="9588500" cy="359918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146175"/>
              <a:ext cx="9588500" cy="24530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222222"/>
                  </a:solidFill>
                  <a:latin typeface="DM Sans"/>
                  <a:ea typeface="DM Sans"/>
                  <a:cs typeface="DM Sans"/>
                  <a:sym typeface="DM Sans"/>
                </a:rPr>
                <a:t>Vector Search combined with Retrieval-Augmented Generation (RAG) enables precise data retrieval, enhancing the efficiency of information access and improving the accuracy of insights generated for decision-makers.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47625"/>
              <a:ext cx="9588500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0078D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VECTOR SEARCH + RAG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66750" y="733425"/>
            <a:ext cx="16954500" cy="114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0078D4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Core Components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0"/>
            <a:ext cx="7553325" cy="10287000"/>
            <a:chOff x="0" y="0"/>
            <a:chExt cx="1170208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208" cy="1593725"/>
            </a:xfrm>
            <a:custGeom>
              <a:avLst/>
              <a:gdLst/>
              <a:ahLst/>
              <a:cxnLst/>
              <a:rect r="r" b="b" t="t" l="l"/>
              <a:pathLst>
                <a:path h="1593725" w="1170208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205" r="0" b="-20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8324850" cy="4118556"/>
            <a:chOff x="0" y="0"/>
            <a:chExt cx="11099800" cy="5491408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66675"/>
              <a:ext cx="11099800" cy="30405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</a:pPr>
              <a:r>
                <a:rPr lang="en-US" sz="8000">
                  <a:solidFill>
                    <a:srgbClr val="0078D4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Business Outcomes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533703"/>
              <a:ext cx="11099800" cy="19577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222222"/>
                  </a:solidFill>
                  <a:latin typeface="DM Sans"/>
                  <a:ea typeface="DM Sans"/>
                  <a:cs typeface="DM Sans"/>
                  <a:sym typeface="DM Sans"/>
                </a:rPr>
                <a:t>Achieving a </a:t>
              </a:r>
              <a:r>
                <a:rPr lang="en-US" b="true" sz="2100">
                  <a:solidFill>
                    <a:srgbClr val="222222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unified AI data lake</a:t>
              </a:r>
              <a:r>
                <a:rPr lang="en-US" sz="2100">
                  <a:solidFill>
                    <a:srgbClr val="222222"/>
                  </a:solidFill>
                  <a:latin typeface="DM Sans"/>
                  <a:ea typeface="DM Sans"/>
                  <a:cs typeface="DM Sans"/>
                  <a:sym typeface="DM Sans"/>
                </a:rPr>
                <a:t> leads to enhanced decision-making, consistent insights, improved accuracy, and reduced costs, providing organizations with a competitive edge in today's data-driven landscape.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0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0"/>
            <a:ext cx="7553325" cy="10287000"/>
            <a:chOff x="0" y="0"/>
            <a:chExt cx="1170208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208" cy="1593725"/>
            </a:xfrm>
            <a:custGeom>
              <a:avLst/>
              <a:gdLst/>
              <a:ahLst/>
              <a:cxnLst/>
              <a:rect r="r" b="b" t="t" l="l"/>
              <a:pathLst>
                <a:path h="1593725" w="1170208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205" r="0" b="-20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105025" y="6038850"/>
            <a:ext cx="796706" cy="781952"/>
            <a:chOff x="0" y="0"/>
            <a:chExt cx="685800" cy="673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85800" cy="668020"/>
            </a:xfrm>
            <a:custGeom>
              <a:avLst/>
              <a:gdLst/>
              <a:ahLst/>
              <a:cxnLst/>
              <a:rect r="r" b="b" t="t" l="l"/>
              <a:pathLst>
                <a:path h="668020" w="685800">
                  <a:moveTo>
                    <a:pt x="342900" y="0"/>
                  </a:moveTo>
                  <a:lnTo>
                    <a:pt x="434340" y="162560"/>
                  </a:lnTo>
                  <a:lnTo>
                    <a:pt x="618490" y="132080"/>
                  </a:lnTo>
                  <a:lnTo>
                    <a:pt x="547370" y="304800"/>
                  </a:lnTo>
                  <a:lnTo>
                    <a:pt x="685800" y="430530"/>
                  </a:lnTo>
                  <a:lnTo>
                    <a:pt x="506730" y="482600"/>
                  </a:lnTo>
                  <a:lnTo>
                    <a:pt x="495300" y="668020"/>
                  </a:lnTo>
                  <a:lnTo>
                    <a:pt x="342900" y="561340"/>
                  </a:lnTo>
                  <a:lnTo>
                    <a:pt x="190500" y="668020"/>
                  </a:lnTo>
                  <a:lnTo>
                    <a:pt x="179070" y="482600"/>
                  </a:lnTo>
                  <a:lnTo>
                    <a:pt x="0" y="430530"/>
                  </a:lnTo>
                  <a:lnTo>
                    <a:pt x="138430" y="304800"/>
                  </a:lnTo>
                  <a:lnTo>
                    <a:pt x="67310" y="132080"/>
                  </a:lnTo>
                  <a:lnTo>
                    <a:pt x="251460" y="162560"/>
                  </a:lnTo>
                  <a:close/>
                </a:path>
              </a:pathLst>
            </a:custGeom>
            <a:solidFill>
              <a:srgbClr val="0078D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39700" y="117475"/>
              <a:ext cx="406400" cy="441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4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105025" y="7829550"/>
            <a:ext cx="796706" cy="781952"/>
            <a:chOff x="0" y="0"/>
            <a:chExt cx="685800" cy="6731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85800" cy="668020"/>
            </a:xfrm>
            <a:custGeom>
              <a:avLst/>
              <a:gdLst/>
              <a:ahLst/>
              <a:cxnLst/>
              <a:rect r="r" b="b" t="t" l="l"/>
              <a:pathLst>
                <a:path h="668020" w="685800">
                  <a:moveTo>
                    <a:pt x="342900" y="0"/>
                  </a:moveTo>
                  <a:lnTo>
                    <a:pt x="434340" y="162560"/>
                  </a:lnTo>
                  <a:lnTo>
                    <a:pt x="618490" y="132080"/>
                  </a:lnTo>
                  <a:lnTo>
                    <a:pt x="547370" y="304800"/>
                  </a:lnTo>
                  <a:lnTo>
                    <a:pt x="685800" y="430530"/>
                  </a:lnTo>
                  <a:lnTo>
                    <a:pt x="506730" y="482600"/>
                  </a:lnTo>
                  <a:lnTo>
                    <a:pt x="495300" y="668020"/>
                  </a:lnTo>
                  <a:lnTo>
                    <a:pt x="342900" y="561340"/>
                  </a:lnTo>
                  <a:lnTo>
                    <a:pt x="190500" y="668020"/>
                  </a:lnTo>
                  <a:lnTo>
                    <a:pt x="179070" y="482600"/>
                  </a:lnTo>
                  <a:lnTo>
                    <a:pt x="0" y="430530"/>
                  </a:lnTo>
                  <a:lnTo>
                    <a:pt x="138430" y="304800"/>
                  </a:lnTo>
                  <a:lnTo>
                    <a:pt x="67310" y="132080"/>
                  </a:lnTo>
                  <a:lnTo>
                    <a:pt x="251460" y="162560"/>
                  </a:lnTo>
                  <a:close/>
                </a:path>
              </a:pathLst>
            </a:custGeom>
            <a:solidFill>
              <a:srgbClr val="0078D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39700" y="117475"/>
              <a:ext cx="406400" cy="441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4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105025" y="4248150"/>
            <a:ext cx="796706" cy="781952"/>
            <a:chOff x="0" y="0"/>
            <a:chExt cx="685800" cy="673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85800" cy="668020"/>
            </a:xfrm>
            <a:custGeom>
              <a:avLst/>
              <a:gdLst/>
              <a:ahLst/>
              <a:cxnLst/>
              <a:rect r="r" b="b" t="t" l="l"/>
              <a:pathLst>
                <a:path h="668020" w="685800">
                  <a:moveTo>
                    <a:pt x="342900" y="0"/>
                  </a:moveTo>
                  <a:lnTo>
                    <a:pt x="434340" y="162560"/>
                  </a:lnTo>
                  <a:lnTo>
                    <a:pt x="618490" y="132080"/>
                  </a:lnTo>
                  <a:lnTo>
                    <a:pt x="547370" y="304800"/>
                  </a:lnTo>
                  <a:lnTo>
                    <a:pt x="685800" y="430530"/>
                  </a:lnTo>
                  <a:lnTo>
                    <a:pt x="506730" y="482600"/>
                  </a:lnTo>
                  <a:lnTo>
                    <a:pt x="495300" y="668020"/>
                  </a:lnTo>
                  <a:lnTo>
                    <a:pt x="342900" y="561340"/>
                  </a:lnTo>
                  <a:lnTo>
                    <a:pt x="190500" y="668020"/>
                  </a:lnTo>
                  <a:lnTo>
                    <a:pt x="179070" y="482600"/>
                  </a:lnTo>
                  <a:lnTo>
                    <a:pt x="0" y="430530"/>
                  </a:lnTo>
                  <a:lnTo>
                    <a:pt x="138430" y="304800"/>
                  </a:lnTo>
                  <a:lnTo>
                    <a:pt x="67310" y="132080"/>
                  </a:lnTo>
                  <a:lnTo>
                    <a:pt x="251460" y="162560"/>
                  </a:lnTo>
                  <a:close/>
                </a:path>
              </a:pathLst>
            </a:custGeom>
            <a:solidFill>
              <a:srgbClr val="0078D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39700" y="117475"/>
              <a:ext cx="406400" cy="441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4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543300" y="7829550"/>
            <a:ext cx="5448300" cy="895350"/>
            <a:chOff x="0" y="0"/>
            <a:chExt cx="7264400" cy="1193800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731584"/>
              <a:ext cx="7264400" cy="4622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</a:pPr>
              <a:r>
                <a:rPr lang="en-US" sz="2099">
                  <a:solidFill>
                    <a:srgbClr val="222222"/>
                  </a:solidFill>
                  <a:latin typeface="DM Sans"/>
                  <a:ea typeface="DM Sans"/>
                  <a:cs typeface="DM Sans"/>
                  <a:sym typeface="DM Sans"/>
                </a:rPr>
                <a:t>hello@reallygreatsite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-47625"/>
              <a:ext cx="7264400" cy="5712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</a:pPr>
              <a:r>
                <a:rPr lang="en-US" sz="2599">
                  <a:solidFill>
                    <a:srgbClr val="0078D4"/>
                  </a:solidFill>
                  <a:latin typeface="DM Sans"/>
                  <a:ea typeface="DM Sans"/>
                  <a:cs typeface="DM Sans"/>
                  <a:sym typeface="DM Sans"/>
                </a:rPr>
                <a:t>SUPPORT TEAM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543300" y="6038850"/>
            <a:ext cx="5448300" cy="895350"/>
            <a:chOff x="0" y="0"/>
            <a:chExt cx="7264400" cy="1193800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731584"/>
              <a:ext cx="7264400" cy="4622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</a:pPr>
              <a:r>
                <a:rPr lang="en-US" sz="2099">
                  <a:solidFill>
                    <a:srgbClr val="222222"/>
                  </a:solidFill>
                  <a:latin typeface="DM Sans"/>
                  <a:ea typeface="DM Sans"/>
                  <a:cs typeface="DM Sans"/>
                  <a:sym typeface="DM Sans"/>
                </a:rPr>
                <a:t>(12) 3456-7890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-47625"/>
              <a:ext cx="7264400" cy="5712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</a:pPr>
              <a:r>
                <a:rPr lang="en-US" sz="2599">
                  <a:solidFill>
                    <a:srgbClr val="0078D4"/>
                  </a:solidFill>
                  <a:latin typeface="DM Sans"/>
                  <a:ea typeface="DM Sans"/>
                  <a:cs typeface="DM Sans"/>
                  <a:sym typeface="DM Sans"/>
                </a:rPr>
                <a:t>OFFICE LOCATION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3543300" y="4248150"/>
            <a:ext cx="5448300" cy="895350"/>
            <a:chOff x="0" y="0"/>
            <a:chExt cx="7264400" cy="1193800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0" y="731584"/>
              <a:ext cx="7264400" cy="4622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</a:pPr>
              <a:r>
                <a:rPr lang="en-US" sz="2099">
                  <a:solidFill>
                    <a:srgbClr val="222222"/>
                  </a:solidFill>
                  <a:latin typeface="DM Sans"/>
                  <a:ea typeface="DM Sans"/>
                  <a:cs typeface="DM Sans"/>
                  <a:sym typeface="DM Sans"/>
                </a:rPr>
                <a:t>@reallygreatsite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-47625"/>
              <a:ext cx="7264400" cy="5712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</a:pPr>
              <a:r>
                <a:rPr lang="en-US" sz="2599">
                  <a:solidFill>
                    <a:srgbClr val="0078D4"/>
                  </a:solidFill>
                  <a:latin typeface="DM Sans"/>
                  <a:ea typeface="DM Sans"/>
                  <a:cs typeface="DM Sans"/>
                  <a:sym typeface="DM Sans"/>
                </a:rPr>
                <a:t>[COMPANY NAME]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666750" y="851535"/>
            <a:ext cx="9763125" cy="128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  <a:spcBef>
                <a:spcPct val="0"/>
              </a:spcBef>
            </a:pPr>
            <a:r>
              <a:rPr lang="en-US" sz="9600" strike="noStrike" u="none">
                <a:solidFill>
                  <a:srgbClr val="0078D4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Contact 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AI Data Lake</dc:description>
  <dc:identifier>DAG3rw_4jdQ</dc:identifier>
  <dcterms:modified xsi:type="dcterms:W3CDTF">2011-08-01T06:04:30Z</dcterms:modified>
  <cp:revision>1</cp:revision>
  <dc:title>Presentation - AI Data Lake</dc:title>
</cp:coreProperties>
</file>