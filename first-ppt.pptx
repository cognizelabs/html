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Lst>
  <p:sldSz cx="18288000" cy="10287000"/>
  <p:notesSz cx="6858000" cy="9144000"/>
  <p:embeddedFontLst>
    <p:embeddedFont>
      <p:font typeface="Radley" charset="1" panose="00000500000000000000"/>
      <p:regular r:id="rId11"/>
    </p:embeddedFont>
    <p:embeddedFont>
      <p:font typeface="Carlito" charset="1" panose="020F0502020204030204"/>
      <p:regular r:id="rId12"/>
    </p:embeddedFont>
    <p:embeddedFont>
      <p:font typeface="Radley Italics" charset="1" panose="00000500000000000000"/>
      <p:regular r:id="rId13"/>
    </p:embeddedFont>
    <p:embeddedFont>
      <p:font typeface="Carlito Bold" charset="1" panose="020F0502020204030204"/>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jpeg" Type="http://schemas.openxmlformats.org/officeDocument/2006/relationships/image"/><Relationship Id="rId4" Target="../media/image4.jpeg" Type="http://schemas.openxmlformats.org/officeDocument/2006/relationships/image"/><Relationship Id="rId5" Target="../media/image5.jpeg" Type="http://schemas.openxmlformats.org/officeDocument/2006/relationships/image"/><Relationship Id="rId6" Target="../media/image6.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981575" y="3352800"/>
            <a:ext cx="8324850" cy="6934200"/>
            <a:chOff x="0" y="0"/>
            <a:chExt cx="1289737" cy="1074289"/>
          </a:xfrm>
        </p:grpSpPr>
        <p:sp>
          <p:nvSpPr>
            <p:cNvPr name="Freeform 3" id="3"/>
            <p:cNvSpPr/>
            <p:nvPr/>
          </p:nvSpPr>
          <p:spPr>
            <a:xfrm flipH="false" flipV="false" rot="0">
              <a:off x="0" y="0"/>
              <a:ext cx="1289737" cy="1074289"/>
            </a:xfrm>
            <a:custGeom>
              <a:avLst/>
              <a:gdLst/>
              <a:ahLst/>
              <a:cxnLst/>
              <a:rect r="r" b="b" t="t" l="l"/>
              <a:pathLst>
                <a:path h="1074289" w="1289737">
                  <a:moveTo>
                    <a:pt x="0" y="0"/>
                  </a:moveTo>
                  <a:lnTo>
                    <a:pt x="1289737" y="0"/>
                  </a:lnTo>
                  <a:lnTo>
                    <a:pt x="1289737" y="1074289"/>
                  </a:lnTo>
                  <a:lnTo>
                    <a:pt x="0" y="1074289"/>
                  </a:lnTo>
                  <a:close/>
                </a:path>
              </a:pathLst>
            </a:custGeom>
            <a:blipFill>
              <a:blip r:embed="rId2"/>
              <a:stretch>
                <a:fillRect l="-329" t="0" r="-329" b="0"/>
              </a:stretch>
            </a:blipFill>
          </p:spPr>
        </p:sp>
      </p:grpSp>
      <p:grpSp>
        <p:nvGrpSpPr>
          <p:cNvPr name="Group 4" id="4"/>
          <p:cNvGrpSpPr/>
          <p:nvPr/>
        </p:nvGrpSpPr>
        <p:grpSpPr>
          <a:xfrm rot="0">
            <a:off x="666750" y="666750"/>
            <a:ext cx="16954500" cy="2172955"/>
            <a:chOff x="0" y="0"/>
            <a:chExt cx="22606000" cy="2897274"/>
          </a:xfrm>
        </p:grpSpPr>
        <p:sp>
          <p:nvSpPr>
            <p:cNvPr name="AutoShape 5" id="5"/>
            <p:cNvSpPr/>
            <p:nvPr/>
          </p:nvSpPr>
          <p:spPr>
            <a:xfrm>
              <a:off x="0" y="2884574"/>
              <a:ext cx="22606000" cy="0"/>
            </a:xfrm>
            <a:prstGeom prst="line">
              <a:avLst/>
            </a:prstGeom>
            <a:ln cap="flat" w="25400">
              <a:solidFill>
                <a:srgbClr val="0078D4"/>
              </a:solidFill>
              <a:prstDash val="solid"/>
              <a:headEnd type="none" len="sm" w="sm"/>
              <a:tailEnd type="none" len="sm" w="sm"/>
            </a:ln>
          </p:spPr>
        </p:sp>
        <p:sp>
          <p:nvSpPr>
            <p:cNvPr name="TextBox 6" id="6"/>
            <p:cNvSpPr txBox="true"/>
            <p:nvPr/>
          </p:nvSpPr>
          <p:spPr>
            <a:xfrm rot="0">
              <a:off x="0" y="266700"/>
              <a:ext cx="22606000" cy="2630574"/>
            </a:xfrm>
            <a:prstGeom prst="rect">
              <a:avLst/>
            </a:prstGeom>
          </p:spPr>
          <p:txBody>
            <a:bodyPr anchor="t" rtlCol="false" tIns="0" lIns="0" bIns="0" rIns="0">
              <a:spAutoFit/>
            </a:bodyPr>
            <a:lstStyle/>
            <a:p>
              <a:pPr algn="ctr" marL="0" indent="0" lvl="0">
                <a:lnSpc>
                  <a:spcPts val="14299"/>
                </a:lnSpc>
              </a:pPr>
              <a:r>
                <a:rPr lang="en-US" sz="14299" spc="-285" u="none">
                  <a:solidFill>
                    <a:srgbClr val="0078D4"/>
                  </a:solidFill>
                  <a:latin typeface="Radley"/>
                  <a:ea typeface="Radley"/>
                  <a:cs typeface="Radley"/>
                  <a:sym typeface="Radley"/>
                </a:rPr>
                <a:t>AI Industry Trends</a:t>
              </a:r>
            </a:p>
          </p:txBody>
        </p:sp>
      </p:grpSp>
      <p:sp>
        <p:nvSpPr>
          <p:cNvPr name="TextBox 7" id="7"/>
          <p:cNvSpPr txBox="true"/>
          <p:nvPr/>
        </p:nvSpPr>
        <p:spPr>
          <a:xfrm rot="0">
            <a:off x="13611225" y="9275446"/>
            <a:ext cx="4010025" cy="344804"/>
          </a:xfrm>
          <a:prstGeom prst="rect">
            <a:avLst/>
          </a:prstGeom>
        </p:spPr>
        <p:txBody>
          <a:bodyPr anchor="t" rtlCol="false" tIns="0" lIns="0" bIns="0" rIns="0">
            <a:spAutoFit/>
          </a:bodyPr>
          <a:lstStyle/>
          <a:p>
            <a:pPr algn="r" marL="0" indent="0" lvl="0">
              <a:lnSpc>
                <a:spcPts val="2520"/>
              </a:lnSpc>
              <a:spcBef>
                <a:spcPct val="0"/>
              </a:spcBef>
            </a:pPr>
            <a:r>
              <a:rPr lang="en-US" sz="1800" spc="239">
                <a:solidFill>
                  <a:srgbClr val="333333"/>
                </a:solidFill>
                <a:latin typeface="Carlito"/>
                <a:ea typeface="Carlito"/>
                <a:cs typeface="Carlito"/>
                <a:sym typeface="Carlito"/>
              </a:rPr>
              <a:t>AI STRATEGIST</a:t>
            </a:r>
          </a:p>
        </p:txBody>
      </p:sp>
      <p:sp>
        <p:nvSpPr>
          <p:cNvPr name="TextBox 8" id="8"/>
          <p:cNvSpPr txBox="true"/>
          <p:nvPr/>
        </p:nvSpPr>
        <p:spPr>
          <a:xfrm rot="0">
            <a:off x="666750" y="9323705"/>
            <a:ext cx="4010025" cy="296545"/>
          </a:xfrm>
          <a:prstGeom prst="rect">
            <a:avLst/>
          </a:prstGeom>
        </p:spPr>
        <p:txBody>
          <a:bodyPr anchor="t" rtlCol="false" tIns="0" lIns="0" bIns="0" rIns="0">
            <a:spAutoFit/>
          </a:bodyPr>
          <a:lstStyle/>
          <a:p>
            <a:pPr algn="l" marL="0" indent="0" lvl="0">
              <a:lnSpc>
                <a:spcPts val="2299"/>
              </a:lnSpc>
            </a:pPr>
            <a:r>
              <a:rPr lang="en-US" sz="2299" i="true">
                <a:solidFill>
                  <a:srgbClr val="0078D4"/>
                </a:solidFill>
                <a:latin typeface="Radley Italics"/>
                <a:ea typeface="Radley Italics"/>
                <a:cs typeface="Radley Italics"/>
                <a:sym typeface="Radley Italics"/>
              </a:rPr>
              <a:t>[Presenter's Full Name Here]</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666750" y="5143500"/>
            <a:ext cx="6057900" cy="3686937"/>
            <a:chOff x="0" y="0"/>
            <a:chExt cx="8077200" cy="4915916"/>
          </a:xfrm>
        </p:grpSpPr>
        <p:sp>
          <p:nvSpPr>
            <p:cNvPr name="TextBox 3" id="3"/>
            <p:cNvSpPr txBox="true"/>
            <p:nvPr/>
          </p:nvSpPr>
          <p:spPr>
            <a:xfrm rot="0">
              <a:off x="0" y="-66675"/>
              <a:ext cx="8077200" cy="625475"/>
            </a:xfrm>
            <a:prstGeom prst="rect">
              <a:avLst/>
            </a:prstGeom>
          </p:spPr>
          <p:txBody>
            <a:bodyPr anchor="t" rtlCol="false" tIns="0" lIns="0" bIns="0" rIns="0">
              <a:spAutoFit/>
            </a:bodyPr>
            <a:lstStyle/>
            <a:p>
              <a:pPr algn="l" marL="0" indent="0" lvl="0">
                <a:lnSpc>
                  <a:spcPts val="3318"/>
                </a:lnSpc>
                <a:spcBef>
                  <a:spcPct val="0"/>
                </a:spcBef>
              </a:pPr>
              <a:r>
                <a:rPr lang="en-US" b="true" sz="2765" strike="noStrike" u="none">
                  <a:solidFill>
                    <a:srgbClr val="0078D4"/>
                  </a:solidFill>
                  <a:latin typeface="Carlito Bold"/>
                  <a:ea typeface="Carlito Bold"/>
                  <a:cs typeface="Carlito Bold"/>
                  <a:sym typeface="Carlito Bold"/>
                </a:rPr>
                <a:t>Model Size Obsession</a:t>
              </a:r>
            </a:p>
          </p:txBody>
        </p:sp>
        <p:sp>
          <p:nvSpPr>
            <p:cNvPr name="TextBox 4" id="4"/>
            <p:cNvSpPr txBox="true"/>
            <p:nvPr/>
          </p:nvSpPr>
          <p:spPr>
            <a:xfrm rot="0">
              <a:off x="0" y="1127125"/>
              <a:ext cx="8077200" cy="3788791"/>
            </a:xfrm>
            <a:prstGeom prst="rect">
              <a:avLst/>
            </a:prstGeom>
          </p:spPr>
          <p:txBody>
            <a:bodyPr anchor="t" rtlCol="false" tIns="0" lIns="0" bIns="0" rIns="0">
              <a:spAutoFit/>
            </a:bodyPr>
            <a:lstStyle/>
            <a:p>
              <a:pPr algn="l" marL="0" indent="0" lvl="0">
                <a:lnSpc>
                  <a:spcPts val="2847"/>
                </a:lnSpc>
                <a:spcBef>
                  <a:spcPct val="0"/>
                </a:spcBef>
              </a:pPr>
              <a:r>
                <a:rPr lang="en-US" sz="2190" strike="noStrike" u="none">
                  <a:solidFill>
                    <a:srgbClr val="333333"/>
                  </a:solidFill>
                  <a:latin typeface="Carlito"/>
                  <a:ea typeface="Carlito"/>
                  <a:cs typeface="Carlito"/>
                  <a:sym typeface="Carlito"/>
                </a:rPr>
                <a:t>The AI industry has historically focused on </a:t>
              </a:r>
              <a:r>
                <a:rPr lang="en-US" b="true" sz="2190" strike="noStrike" u="none">
                  <a:solidFill>
                    <a:srgbClr val="333333"/>
                  </a:solidFill>
                  <a:latin typeface="Carlito Bold"/>
                  <a:ea typeface="Carlito Bold"/>
                  <a:cs typeface="Carlito Bold"/>
                  <a:sym typeface="Carlito Bold"/>
                </a:rPr>
                <a:t>large models</a:t>
              </a:r>
              <a:r>
                <a:rPr lang="en-US" sz="2190" strike="noStrike" u="none">
                  <a:solidFill>
                    <a:srgbClr val="333333"/>
                  </a:solidFill>
                  <a:latin typeface="Carlito"/>
                  <a:ea typeface="Carlito"/>
                  <a:cs typeface="Carlito"/>
                  <a:sym typeface="Carlito"/>
                </a:rPr>
                <a:t> and complexity, often overlooking practical applications. This obsession with size has led to inefficiencies, with many organizations investing heavily in developing </a:t>
              </a:r>
              <a:r>
                <a:rPr lang="en-US" b="true" sz="2190" strike="noStrike" u="none">
                  <a:solidFill>
                    <a:srgbClr val="333333"/>
                  </a:solidFill>
                  <a:latin typeface="Carlito Bold"/>
                  <a:ea typeface="Carlito Bold"/>
                  <a:cs typeface="Carlito Bold"/>
                  <a:sym typeface="Carlito Bold"/>
                </a:rPr>
                <a:t>massive neural networks</a:t>
              </a:r>
              <a:r>
                <a:rPr lang="en-US" sz="2190" strike="noStrike" u="none">
                  <a:solidFill>
                    <a:srgbClr val="333333"/>
                  </a:solidFill>
                  <a:latin typeface="Carlito"/>
                  <a:ea typeface="Carlito"/>
                  <a:cs typeface="Carlito"/>
                  <a:sym typeface="Carlito"/>
                </a:rPr>
                <a:t> without clear governance or integration strategies. As a result, the real potential of AI technology has remained largely untapped.</a:t>
              </a:r>
            </a:p>
          </p:txBody>
        </p:sp>
      </p:grpSp>
      <p:grpSp>
        <p:nvGrpSpPr>
          <p:cNvPr name="Group 5" id="5"/>
          <p:cNvGrpSpPr/>
          <p:nvPr/>
        </p:nvGrpSpPr>
        <p:grpSpPr>
          <a:xfrm rot="0">
            <a:off x="7858125" y="5143500"/>
            <a:ext cx="6057900" cy="4039362"/>
            <a:chOff x="0" y="0"/>
            <a:chExt cx="8077200" cy="5385816"/>
          </a:xfrm>
        </p:grpSpPr>
        <p:sp>
          <p:nvSpPr>
            <p:cNvPr name="TextBox 6" id="6"/>
            <p:cNvSpPr txBox="true"/>
            <p:nvPr/>
          </p:nvSpPr>
          <p:spPr>
            <a:xfrm rot="0">
              <a:off x="0" y="-66675"/>
              <a:ext cx="8077200" cy="625475"/>
            </a:xfrm>
            <a:prstGeom prst="rect">
              <a:avLst/>
            </a:prstGeom>
          </p:spPr>
          <p:txBody>
            <a:bodyPr anchor="t" rtlCol="false" tIns="0" lIns="0" bIns="0" rIns="0">
              <a:spAutoFit/>
            </a:bodyPr>
            <a:lstStyle/>
            <a:p>
              <a:pPr algn="l" marL="0" indent="0" lvl="0">
                <a:lnSpc>
                  <a:spcPts val="3318"/>
                </a:lnSpc>
                <a:spcBef>
                  <a:spcPct val="0"/>
                </a:spcBef>
              </a:pPr>
              <a:r>
                <a:rPr lang="en-US" b="true" sz="2765" strike="noStrike" u="none">
                  <a:solidFill>
                    <a:srgbClr val="0078D4"/>
                  </a:solidFill>
                  <a:latin typeface="Carlito Bold"/>
                  <a:ea typeface="Carlito Bold"/>
                  <a:cs typeface="Carlito Bold"/>
                  <a:sym typeface="Carlito Bold"/>
                </a:rPr>
                <a:t>Value Delivery</a:t>
              </a:r>
            </a:p>
          </p:txBody>
        </p:sp>
        <p:sp>
          <p:nvSpPr>
            <p:cNvPr name="TextBox 7" id="7"/>
            <p:cNvSpPr txBox="true"/>
            <p:nvPr/>
          </p:nvSpPr>
          <p:spPr>
            <a:xfrm rot="0">
              <a:off x="0" y="1127125"/>
              <a:ext cx="8077200" cy="4258691"/>
            </a:xfrm>
            <a:prstGeom prst="rect">
              <a:avLst/>
            </a:prstGeom>
          </p:spPr>
          <p:txBody>
            <a:bodyPr anchor="t" rtlCol="false" tIns="0" lIns="0" bIns="0" rIns="0">
              <a:spAutoFit/>
            </a:bodyPr>
            <a:lstStyle/>
            <a:p>
              <a:pPr algn="l" marL="0" indent="0" lvl="0">
                <a:lnSpc>
                  <a:spcPts val="2847"/>
                </a:lnSpc>
                <a:spcBef>
                  <a:spcPct val="0"/>
                </a:spcBef>
              </a:pPr>
              <a:r>
                <a:rPr lang="en-US" sz="2190" strike="noStrike" u="none">
                  <a:solidFill>
                    <a:srgbClr val="333333"/>
                  </a:solidFill>
                  <a:latin typeface="Carlito"/>
                  <a:ea typeface="Carlito"/>
                  <a:cs typeface="Carlito"/>
                  <a:sym typeface="Carlito"/>
                </a:rPr>
                <a:t>The shift towards </a:t>
              </a:r>
              <a:r>
                <a:rPr lang="en-US" b="true" sz="2190" strike="noStrike" u="none">
                  <a:solidFill>
                    <a:srgbClr val="333333"/>
                  </a:solidFill>
                  <a:latin typeface="Carlito Bold"/>
                  <a:ea typeface="Carlito Bold"/>
                  <a:cs typeface="Carlito Bold"/>
                  <a:sym typeface="Carlito Bold"/>
                </a:rPr>
                <a:t>value delivery</a:t>
              </a:r>
              <a:r>
                <a:rPr lang="en-US" sz="2190" strike="noStrike" u="none">
                  <a:solidFill>
                    <a:srgbClr val="333333"/>
                  </a:solidFill>
                  <a:latin typeface="Carlito"/>
                  <a:ea typeface="Carlito"/>
                  <a:cs typeface="Carlito"/>
                  <a:sym typeface="Carlito"/>
                </a:rPr>
                <a:t> emphasizes practical outcomes and systematic governance of AI applications. By focusing on integration and effective use of smaller, tuned models, businesses can achieve faster results and enhanced collaboration. This approach prioritizes reliable performance and responsible scaling, ensuring that AI technologies are aligned with organizational goals for tangible benefits.</a:t>
              </a:r>
            </a:p>
          </p:txBody>
        </p:sp>
      </p:grpSp>
      <p:grpSp>
        <p:nvGrpSpPr>
          <p:cNvPr name="Group 8" id="8"/>
          <p:cNvGrpSpPr/>
          <p:nvPr/>
        </p:nvGrpSpPr>
        <p:grpSpPr>
          <a:xfrm rot="0">
            <a:off x="666750" y="661581"/>
            <a:ext cx="12944475" cy="1754378"/>
            <a:chOff x="0" y="0"/>
            <a:chExt cx="17259300" cy="2339171"/>
          </a:xfrm>
        </p:grpSpPr>
        <p:sp>
          <p:nvSpPr>
            <p:cNvPr name="TextBox 9" id="9"/>
            <p:cNvSpPr txBox="true"/>
            <p:nvPr/>
          </p:nvSpPr>
          <p:spPr>
            <a:xfrm rot="0">
              <a:off x="0" y="142875"/>
              <a:ext cx="17259300" cy="1275292"/>
            </a:xfrm>
            <a:prstGeom prst="rect">
              <a:avLst/>
            </a:prstGeom>
          </p:spPr>
          <p:txBody>
            <a:bodyPr anchor="t" rtlCol="false" tIns="0" lIns="0" bIns="0" rIns="0">
              <a:spAutoFit/>
            </a:bodyPr>
            <a:lstStyle/>
            <a:p>
              <a:pPr algn="l" marL="0" indent="0" lvl="0">
                <a:lnSpc>
                  <a:spcPts val="6999"/>
                </a:lnSpc>
              </a:pPr>
              <a:r>
                <a:rPr lang="en-US" sz="6999">
                  <a:solidFill>
                    <a:srgbClr val="0078D4"/>
                  </a:solidFill>
                  <a:latin typeface="Radley"/>
                  <a:ea typeface="Radley"/>
                  <a:cs typeface="Radley"/>
                  <a:sym typeface="Radley"/>
                </a:rPr>
                <a:t>Shift in Focus</a:t>
              </a:r>
            </a:p>
          </p:txBody>
        </p:sp>
        <p:sp>
          <p:nvSpPr>
            <p:cNvPr name="TextBox 10" id="10"/>
            <p:cNvSpPr txBox="true"/>
            <p:nvPr/>
          </p:nvSpPr>
          <p:spPr>
            <a:xfrm rot="0">
              <a:off x="0" y="1781175"/>
              <a:ext cx="17259300" cy="557996"/>
            </a:xfrm>
            <a:prstGeom prst="rect">
              <a:avLst/>
            </a:prstGeom>
          </p:spPr>
          <p:txBody>
            <a:bodyPr anchor="t" rtlCol="false" tIns="0" lIns="0" bIns="0" rIns="0">
              <a:spAutoFit/>
            </a:bodyPr>
            <a:lstStyle/>
            <a:p>
              <a:pPr algn="l" marL="0" indent="0" lvl="0">
                <a:lnSpc>
                  <a:spcPts val="3576"/>
                </a:lnSpc>
                <a:spcBef>
                  <a:spcPct val="0"/>
                </a:spcBef>
              </a:pPr>
              <a:r>
                <a:rPr lang="en-US" sz="2554" strike="noStrike" u="none">
                  <a:solidFill>
                    <a:srgbClr val="333333"/>
                  </a:solidFill>
                  <a:latin typeface="Radley"/>
                  <a:ea typeface="Radley"/>
                  <a:cs typeface="Radley"/>
                  <a:sym typeface="Radley"/>
                </a:rPr>
                <a:t>From Model Size to Value Delivery</a:t>
              </a:r>
            </a:p>
          </p:txBody>
        </p:sp>
      </p:grpSp>
      <p:grpSp>
        <p:nvGrpSpPr>
          <p:cNvPr name="Group 11" id="11"/>
          <p:cNvGrpSpPr/>
          <p:nvPr/>
        </p:nvGrpSpPr>
        <p:grpSpPr>
          <a:xfrm rot="0">
            <a:off x="17202135" y="459202"/>
            <a:ext cx="2171730" cy="2205796"/>
            <a:chOff x="0" y="0"/>
            <a:chExt cx="812800" cy="825500"/>
          </a:xfrm>
        </p:grpSpPr>
        <p:sp>
          <p:nvSpPr>
            <p:cNvPr name="Freeform 12" id="12"/>
            <p:cNvSpPr/>
            <p:nvPr/>
          </p:nvSpPr>
          <p:spPr>
            <a:xfrm flipH="false" flipV="false" rot="0">
              <a:off x="1270" y="0"/>
              <a:ext cx="810260" cy="822960"/>
            </a:xfrm>
            <a:custGeom>
              <a:avLst/>
              <a:gdLst/>
              <a:ahLst/>
              <a:cxnLst/>
              <a:rect r="r" b="b" t="t" l="l"/>
              <a:pathLst>
                <a:path h="822960" w="810260">
                  <a:moveTo>
                    <a:pt x="405130" y="0"/>
                  </a:moveTo>
                  <a:lnTo>
                    <a:pt x="450850" y="151130"/>
                  </a:lnTo>
                  <a:lnTo>
                    <a:pt x="546100" y="25400"/>
                  </a:lnTo>
                  <a:lnTo>
                    <a:pt x="537210" y="181610"/>
                  </a:lnTo>
                  <a:lnTo>
                    <a:pt x="669290" y="96520"/>
                  </a:lnTo>
                  <a:lnTo>
                    <a:pt x="608330" y="241300"/>
                  </a:lnTo>
                  <a:lnTo>
                    <a:pt x="760730" y="205740"/>
                  </a:lnTo>
                  <a:lnTo>
                    <a:pt x="654050" y="321310"/>
                  </a:lnTo>
                  <a:lnTo>
                    <a:pt x="810260" y="340360"/>
                  </a:lnTo>
                  <a:lnTo>
                    <a:pt x="669290" y="411480"/>
                  </a:lnTo>
                  <a:lnTo>
                    <a:pt x="810260" y="482600"/>
                  </a:lnTo>
                  <a:lnTo>
                    <a:pt x="654050" y="501650"/>
                  </a:lnTo>
                  <a:lnTo>
                    <a:pt x="760730" y="617220"/>
                  </a:lnTo>
                  <a:lnTo>
                    <a:pt x="608330" y="581660"/>
                  </a:lnTo>
                  <a:lnTo>
                    <a:pt x="669290" y="726440"/>
                  </a:lnTo>
                  <a:lnTo>
                    <a:pt x="537210" y="640080"/>
                  </a:lnTo>
                  <a:lnTo>
                    <a:pt x="546100" y="797560"/>
                  </a:lnTo>
                  <a:lnTo>
                    <a:pt x="450850" y="671830"/>
                  </a:lnTo>
                  <a:lnTo>
                    <a:pt x="405130" y="822960"/>
                  </a:lnTo>
                  <a:lnTo>
                    <a:pt x="359410" y="671830"/>
                  </a:lnTo>
                  <a:lnTo>
                    <a:pt x="264160" y="797560"/>
                  </a:lnTo>
                  <a:lnTo>
                    <a:pt x="273050" y="640080"/>
                  </a:lnTo>
                  <a:lnTo>
                    <a:pt x="140970" y="726440"/>
                  </a:lnTo>
                  <a:lnTo>
                    <a:pt x="201930" y="581660"/>
                  </a:lnTo>
                  <a:lnTo>
                    <a:pt x="49530" y="617220"/>
                  </a:lnTo>
                  <a:lnTo>
                    <a:pt x="156210" y="501650"/>
                  </a:lnTo>
                  <a:lnTo>
                    <a:pt x="0" y="482600"/>
                  </a:lnTo>
                  <a:lnTo>
                    <a:pt x="140970" y="411480"/>
                  </a:lnTo>
                  <a:lnTo>
                    <a:pt x="0" y="340360"/>
                  </a:lnTo>
                  <a:lnTo>
                    <a:pt x="156210" y="321310"/>
                  </a:lnTo>
                  <a:lnTo>
                    <a:pt x="49530" y="205740"/>
                  </a:lnTo>
                  <a:lnTo>
                    <a:pt x="201930" y="241300"/>
                  </a:lnTo>
                  <a:lnTo>
                    <a:pt x="140970" y="96520"/>
                  </a:lnTo>
                  <a:lnTo>
                    <a:pt x="273050" y="181610"/>
                  </a:lnTo>
                  <a:lnTo>
                    <a:pt x="264160" y="25400"/>
                  </a:lnTo>
                  <a:lnTo>
                    <a:pt x="359410" y="151130"/>
                  </a:lnTo>
                  <a:close/>
                </a:path>
              </a:pathLst>
            </a:custGeom>
            <a:solidFill>
              <a:srgbClr val="0078D4"/>
            </a:solidFill>
          </p:spPr>
        </p:sp>
        <p:sp>
          <p:nvSpPr>
            <p:cNvPr name="TextBox 13" id="13"/>
            <p:cNvSpPr txBox="true"/>
            <p:nvPr/>
          </p:nvSpPr>
          <p:spPr>
            <a:xfrm>
              <a:off x="141746" y="112576"/>
              <a:ext cx="529308" cy="559367"/>
            </a:xfrm>
            <a:prstGeom prst="rect">
              <a:avLst/>
            </a:prstGeom>
          </p:spPr>
          <p:txBody>
            <a:bodyPr anchor="ctr" rtlCol="false" tIns="50800" lIns="50800" bIns="50800" rIns="50800"/>
            <a:lstStyle/>
            <a:p>
              <a:pPr algn="ctr" marL="0" indent="0" lvl="0">
                <a:lnSpc>
                  <a:spcPts val="3065"/>
                </a:lnSpc>
                <a:spcBef>
                  <a:spcPct val="0"/>
                </a:spcBef>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504632" y="666750"/>
            <a:ext cx="3126143" cy="4768453"/>
            <a:chOff x="0" y="0"/>
            <a:chExt cx="1076712" cy="1642359"/>
          </a:xfrm>
        </p:grpSpPr>
        <p:sp>
          <p:nvSpPr>
            <p:cNvPr name="Freeform 3" id="3"/>
            <p:cNvSpPr/>
            <p:nvPr/>
          </p:nvSpPr>
          <p:spPr>
            <a:xfrm flipH="false" flipV="false" rot="0">
              <a:off x="0" y="0"/>
              <a:ext cx="1076712" cy="1642359"/>
            </a:xfrm>
            <a:custGeom>
              <a:avLst/>
              <a:gdLst/>
              <a:ahLst/>
              <a:cxnLst/>
              <a:rect r="r" b="b" t="t" l="l"/>
              <a:pathLst>
                <a:path h="1642359" w="1076712">
                  <a:moveTo>
                    <a:pt x="0" y="0"/>
                  </a:moveTo>
                  <a:lnTo>
                    <a:pt x="1076712" y="0"/>
                  </a:lnTo>
                  <a:lnTo>
                    <a:pt x="1076712" y="1642359"/>
                  </a:lnTo>
                  <a:lnTo>
                    <a:pt x="0" y="1642359"/>
                  </a:lnTo>
                  <a:close/>
                </a:path>
              </a:pathLst>
            </a:custGeom>
            <a:blipFill>
              <a:blip r:embed="rId2"/>
              <a:stretch>
                <a:fillRect l="0" t="-333" r="0" b="-333"/>
              </a:stretch>
            </a:blipFill>
          </p:spPr>
        </p:sp>
      </p:grpSp>
      <p:grpSp>
        <p:nvGrpSpPr>
          <p:cNvPr name="Group 4" id="4"/>
          <p:cNvGrpSpPr/>
          <p:nvPr/>
        </p:nvGrpSpPr>
        <p:grpSpPr>
          <a:xfrm rot="0">
            <a:off x="11048446" y="666750"/>
            <a:ext cx="3126143" cy="4768453"/>
            <a:chOff x="0" y="0"/>
            <a:chExt cx="1076712" cy="1642359"/>
          </a:xfrm>
        </p:grpSpPr>
        <p:sp>
          <p:nvSpPr>
            <p:cNvPr name="Freeform 5" id="5"/>
            <p:cNvSpPr/>
            <p:nvPr/>
          </p:nvSpPr>
          <p:spPr>
            <a:xfrm flipH="false" flipV="false" rot="0">
              <a:off x="0" y="0"/>
              <a:ext cx="1076712" cy="1642359"/>
            </a:xfrm>
            <a:custGeom>
              <a:avLst/>
              <a:gdLst/>
              <a:ahLst/>
              <a:cxnLst/>
              <a:rect r="r" b="b" t="t" l="l"/>
              <a:pathLst>
                <a:path h="1642359" w="1076712">
                  <a:moveTo>
                    <a:pt x="0" y="0"/>
                  </a:moveTo>
                  <a:lnTo>
                    <a:pt x="1076712" y="0"/>
                  </a:lnTo>
                  <a:lnTo>
                    <a:pt x="1076712" y="1642359"/>
                  </a:lnTo>
                  <a:lnTo>
                    <a:pt x="0" y="1642359"/>
                  </a:lnTo>
                  <a:close/>
                </a:path>
              </a:pathLst>
            </a:custGeom>
            <a:blipFill>
              <a:blip r:embed="rId3"/>
              <a:stretch>
                <a:fillRect l="0" t="-333" r="0" b="-333"/>
              </a:stretch>
            </a:blipFill>
          </p:spPr>
        </p:sp>
      </p:grpSp>
      <p:grpSp>
        <p:nvGrpSpPr>
          <p:cNvPr name="Group 6" id="6"/>
          <p:cNvGrpSpPr/>
          <p:nvPr/>
        </p:nvGrpSpPr>
        <p:grpSpPr>
          <a:xfrm rot="0">
            <a:off x="7562850" y="666750"/>
            <a:ext cx="3126143" cy="4768453"/>
            <a:chOff x="0" y="0"/>
            <a:chExt cx="1076712" cy="1642359"/>
          </a:xfrm>
        </p:grpSpPr>
        <p:sp>
          <p:nvSpPr>
            <p:cNvPr name="Freeform 7" id="7"/>
            <p:cNvSpPr/>
            <p:nvPr/>
          </p:nvSpPr>
          <p:spPr>
            <a:xfrm flipH="false" flipV="false" rot="0">
              <a:off x="0" y="0"/>
              <a:ext cx="1076712" cy="1642359"/>
            </a:xfrm>
            <a:custGeom>
              <a:avLst/>
              <a:gdLst/>
              <a:ahLst/>
              <a:cxnLst/>
              <a:rect r="r" b="b" t="t" l="l"/>
              <a:pathLst>
                <a:path h="1642359" w="1076712">
                  <a:moveTo>
                    <a:pt x="0" y="0"/>
                  </a:moveTo>
                  <a:lnTo>
                    <a:pt x="1076712" y="0"/>
                  </a:lnTo>
                  <a:lnTo>
                    <a:pt x="1076712" y="1642359"/>
                  </a:lnTo>
                  <a:lnTo>
                    <a:pt x="0" y="1642359"/>
                  </a:lnTo>
                  <a:close/>
                </a:path>
              </a:pathLst>
            </a:custGeom>
            <a:blipFill>
              <a:blip r:embed="rId4"/>
              <a:stretch>
                <a:fillRect l="0" t="-333" r="0" b="-333"/>
              </a:stretch>
            </a:blipFill>
          </p:spPr>
        </p:sp>
      </p:grpSp>
      <p:grpSp>
        <p:nvGrpSpPr>
          <p:cNvPr name="Group 8" id="8"/>
          <p:cNvGrpSpPr/>
          <p:nvPr/>
        </p:nvGrpSpPr>
        <p:grpSpPr>
          <a:xfrm rot="0">
            <a:off x="4133665" y="666750"/>
            <a:ext cx="3126143" cy="4768453"/>
            <a:chOff x="0" y="0"/>
            <a:chExt cx="1076712" cy="1642359"/>
          </a:xfrm>
        </p:grpSpPr>
        <p:sp>
          <p:nvSpPr>
            <p:cNvPr name="Freeform 9" id="9"/>
            <p:cNvSpPr/>
            <p:nvPr/>
          </p:nvSpPr>
          <p:spPr>
            <a:xfrm flipH="false" flipV="false" rot="0">
              <a:off x="0" y="0"/>
              <a:ext cx="1076712" cy="1642359"/>
            </a:xfrm>
            <a:custGeom>
              <a:avLst/>
              <a:gdLst/>
              <a:ahLst/>
              <a:cxnLst/>
              <a:rect r="r" b="b" t="t" l="l"/>
              <a:pathLst>
                <a:path h="1642359" w="1076712">
                  <a:moveTo>
                    <a:pt x="0" y="0"/>
                  </a:moveTo>
                  <a:lnTo>
                    <a:pt x="1076712" y="0"/>
                  </a:lnTo>
                  <a:lnTo>
                    <a:pt x="1076712" y="1642359"/>
                  </a:lnTo>
                  <a:lnTo>
                    <a:pt x="0" y="1642359"/>
                  </a:lnTo>
                  <a:close/>
                </a:path>
              </a:pathLst>
            </a:custGeom>
            <a:blipFill>
              <a:blip r:embed="rId5"/>
              <a:stretch>
                <a:fillRect l="0" t="-333" r="0" b="-333"/>
              </a:stretch>
            </a:blipFill>
          </p:spPr>
        </p:sp>
      </p:grpSp>
      <p:grpSp>
        <p:nvGrpSpPr>
          <p:cNvPr name="Group 10" id="10"/>
          <p:cNvGrpSpPr/>
          <p:nvPr/>
        </p:nvGrpSpPr>
        <p:grpSpPr>
          <a:xfrm rot="0">
            <a:off x="666750" y="666750"/>
            <a:ext cx="3126143" cy="4768453"/>
            <a:chOff x="0" y="0"/>
            <a:chExt cx="1076712" cy="1642359"/>
          </a:xfrm>
        </p:grpSpPr>
        <p:sp>
          <p:nvSpPr>
            <p:cNvPr name="Freeform 11" id="11"/>
            <p:cNvSpPr/>
            <p:nvPr/>
          </p:nvSpPr>
          <p:spPr>
            <a:xfrm flipH="false" flipV="false" rot="0">
              <a:off x="0" y="0"/>
              <a:ext cx="1076712" cy="1642359"/>
            </a:xfrm>
            <a:custGeom>
              <a:avLst/>
              <a:gdLst/>
              <a:ahLst/>
              <a:cxnLst/>
              <a:rect r="r" b="b" t="t" l="l"/>
              <a:pathLst>
                <a:path h="1642359" w="1076712">
                  <a:moveTo>
                    <a:pt x="0" y="0"/>
                  </a:moveTo>
                  <a:lnTo>
                    <a:pt x="1076712" y="0"/>
                  </a:lnTo>
                  <a:lnTo>
                    <a:pt x="1076712" y="1642359"/>
                  </a:lnTo>
                  <a:lnTo>
                    <a:pt x="0" y="1642359"/>
                  </a:lnTo>
                  <a:close/>
                </a:path>
              </a:pathLst>
            </a:custGeom>
            <a:blipFill>
              <a:blip r:embed="rId6"/>
              <a:stretch>
                <a:fillRect l="0" t="-333" r="0" b="-333"/>
              </a:stretch>
            </a:blipFill>
          </p:spPr>
        </p:sp>
      </p:grpSp>
      <p:grpSp>
        <p:nvGrpSpPr>
          <p:cNvPr name="Group 12" id="12"/>
          <p:cNvGrpSpPr/>
          <p:nvPr/>
        </p:nvGrpSpPr>
        <p:grpSpPr>
          <a:xfrm rot="0">
            <a:off x="666750" y="5688965"/>
            <a:ext cx="2876550" cy="1224272"/>
            <a:chOff x="0" y="0"/>
            <a:chExt cx="3835400" cy="1632363"/>
          </a:xfrm>
        </p:grpSpPr>
        <p:sp>
          <p:nvSpPr>
            <p:cNvPr name="TextBox 13" id="13"/>
            <p:cNvSpPr txBox="true"/>
            <p:nvPr/>
          </p:nvSpPr>
          <p:spPr>
            <a:xfrm rot="0">
              <a:off x="0" y="-47625"/>
              <a:ext cx="3835400" cy="514975"/>
            </a:xfrm>
            <a:prstGeom prst="rect">
              <a:avLst/>
            </a:prstGeom>
          </p:spPr>
          <p:txBody>
            <a:bodyPr anchor="t" rtlCol="false" tIns="0" lIns="0" bIns="0" rIns="0">
              <a:spAutoFit/>
            </a:bodyPr>
            <a:lstStyle/>
            <a:p>
              <a:pPr algn="l" marL="0" indent="0" lvl="0">
                <a:lnSpc>
                  <a:spcPts val="3255"/>
                </a:lnSpc>
                <a:spcBef>
                  <a:spcPct val="0"/>
                </a:spcBef>
              </a:pPr>
              <a:r>
                <a:rPr lang="en-US" sz="2325">
                  <a:solidFill>
                    <a:srgbClr val="0078D4"/>
                  </a:solidFill>
                  <a:latin typeface="Radley"/>
                  <a:ea typeface="Radley"/>
                  <a:cs typeface="Radley"/>
                  <a:sym typeface="Radley"/>
                </a:rPr>
                <a:t>Smaller Models</a:t>
              </a:r>
            </a:p>
          </p:txBody>
        </p:sp>
        <p:sp>
          <p:nvSpPr>
            <p:cNvPr name="TextBox 14" id="14"/>
            <p:cNvSpPr txBox="true"/>
            <p:nvPr/>
          </p:nvSpPr>
          <p:spPr>
            <a:xfrm rot="0">
              <a:off x="0" y="699125"/>
              <a:ext cx="3833095" cy="933238"/>
            </a:xfrm>
            <a:prstGeom prst="rect">
              <a:avLst/>
            </a:prstGeom>
          </p:spPr>
          <p:txBody>
            <a:bodyPr anchor="t" rtlCol="false" tIns="0" lIns="0" bIns="0" rIns="0">
              <a:spAutoFit/>
            </a:bodyPr>
            <a:lstStyle/>
            <a:p>
              <a:pPr algn="l" marL="0" indent="0" lvl="0">
                <a:lnSpc>
                  <a:spcPts val="2764"/>
                </a:lnSpc>
                <a:spcBef>
                  <a:spcPct val="0"/>
                </a:spcBef>
              </a:pPr>
              <a:r>
                <a:rPr lang="en-US" sz="1974" strike="noStrike" u="none">
                  <a:solidFill>
                    <a:srgbClr val="333333"/>
                  </a:solidFill>
                  <a:latin typeface="Carlito"/>
                  <a:ea typeface="Carlito"/>
                  <a:cs typeface="Carlito"/>
                  <a:sym typeface="Carlito"/>
                </a:rPr>
                <a:t>Achieving faster business outcomes and agility</a:t>
              </a:r>
            </a:p>
          </p:txBody>
        </p:sp>
      </p:grpSp>
      <p:grpSp>
        <p:nvGrpSpPr>
          <p:cNvPr name="Group 15" id="15"/>
          <p:cNvGrpSpPr/>
          <p:nvPr/>
        </p:nvGrpSpPr>
        <p:grpSpPr>
          <a:xfrm rot="0">
            <a:off x="4133665" y="5688965"/>
            <a:ext cx="2876550" cy="1224272"/>
            <a:chOff x="0" y="0"/>
            <a:chExt cx="3835400" cy="1632363"/>
          </a:xfrm>
        </p:grpSpPr>
        <p:sp>
          <p:nvSpPr>
            <p:cNvPr name="TextBox 16" id="16"/>
            <p:cNvSpPr txBox="true"/>
            <p:nvPr/>
          </p:nvSpPr>
          <p:spPr>
            <a:xfrm rot="0">
              <a:off x="0" y="-47625"/>
              <a:ext cx="3835400" cy="514975"/>
            </a:xfrm>
            <a:prstGeom prst="rect">
              <a:avLst/>
            </a:prstGeom>
          </p:spPr>
          <p:txBody>
            <a:bodyPr anchor="t" rtlCol="false" tIns="0" lIns="0" bIns="0" rIns="0">
              <a:spAutoFit/>
            </a:bodyPr>
            <a:lstStyle/>
            <a:p>
              <a:pPr algn="l" marL="0" indent="0" lvl="0">
                <a:lnSpc>
                  <a:spcPts val="3255"/>
                </a:lnSpc>
                <a:spcBef>
                  <a:spcPct val="0"/>
                </a:spcBef>
              </a:pPr>
              <a:r>
                <a:rPr lang="en-US" sz="2325">
                  <a:solidFill>
                    <a:srgbClr val="0078D4"/>
                  </a:solidFill>
                  <a:latin typeface="Radley"/>
                  <a:ea typeface="Radley"/>
                  <a:cs typeface="Radley"/>
                  <a:sym typeface="Radley"/>
                </a:rPr>
                <a:t>Multi-Agent</a:t>
              </a:r>
            </a:p>
          </p:txBody>
        </p:sp>
        <p:sp>
          <p:nvSpPr>
            <p:cNvPr name="TextBox 17" id="17"/>
            <p:cNvSpPr txBox="true"/>
            <p:nvPr/>
          </p:nvSpPr>
          <p:spPr>
            <a:xfrm rot="0">
              <a:off x="0" y="699125"/>
              <a:ext cx="3835400" cy="933238"/>
            </a:xfrm>
            <a:prstGeom prst="rect">
              <a:avLst/>
            </a:prstGeom>
          </p:spPr>
          <p:txBody>
            <a:bodyPr anchor="t" rtlCol="false" tIns="0" lIns="0" bIns="0" rIns="0">
              <a:spAutoFit/>
            </a:bodyPr>
            <a:lstStyle/>
            <a:p>
              <a:pPr algn="l" marL="0" indent="0" lvl="0">
                <a:lnSpc>
                  <a:spcPts val="2764"/>
                </a:lnSpc>
                <a:spcBef>
                  <a:spcPct val="0"/>
                </a:spcBef>
              </a:pPr>
              <a:r>
                <a:rPr lang="en-US" sz="1974" strike="noStrike" u="none">
                  <a:solidFill>
                    <a:srgbClr val="333333"/>
                  </a:solidFill>
                  <a:latin typeface="Carlito"/>
                  <a:ea typeface="Carlito"/>
                  <a:cs typeface="Carlito"/>
                  <a:sym typeface="Carlito"/>
                </a:rPr>
                <a:t>Enhancing collaboration across systems and teams</a:t>
              </a:r>
            </a:p>
          </p:txBody>
        </p:sp>
      </p:grpSp>
      <p:grpSp>
        <p:nvGrpSpPr>
          <p:cNvPr name="Group 18" id="18"/>
          <p:cNvGrpSpPr/>
          <p:nvPr/>
        </p:nvGrpSpPr>
        <p:grpSpPr>
          <a:xfrm rot="0">
            <a:off x="7562850" y="5688965"/>
            <a:ext cx="2876550" cy="1224272"/>
            <a:chOff x="0" y="0"/>
            <a:chExt cx="3835400" cy="1632363"/>
          </a:xfrm>
        </p:grpSpPr>
        <p:sp>
          <p:nvSpPr>
            <p:cNvPr name="TextBox 19" id="19"/>
            <p:cNvSpPr txBox="true"/>
            <p:nvPr/>
          </p:nvSpPr>
          <p:spPr>
            <a:xfrm rot="0">
              <a:off x="0" y="-47625"/>
              <a:ext cx="3835400" cy="514975"/>
            </a:xfrm>
            <a:prstGeom prst="rect">
              <a:avLst/>
            </a:prstGeom>
          </p:spPr>
          <p:txBody>
            <a:bodyPr anchor="t" rtlCol="false" tIns="0" lIns="0" bIns="0" rIns="0">
              <a:spAutoFit/>
            </a:bodyPr>
            <a:lstStyle/>
            <a:p>
              <a:pPr algn="l" marL="0" indent="0" lvl="0">
                <a:lnSpc>
                  <a:spcPts val="3255"/>
                </a:lnSpc>
                <a:spcBef>
                  <a:spcPct val="0"/>
                </a:spcBef>
              </a:pPr>
              <a:r>
                <a:rPr lang="en-US" sz="2325">
                  <a:solidFill>
                    <a:srgbClr val="0078D4"/>
                  </a:solidFill>
                  <a:latin typeface="Radley"/>
                  <a:ea typeface="Radley"/>
                  <a:cs typeface="Radley"/>
                  <a:sym typeface="Radley"/>
                </a:rPr>
                <a:t>AI + Data</a:t>
              </a:r>
            </a:p>
          </p:txBody>
        </p:sp>
        <p:sp>
          <p:nvSpPr>
            <p:cNvPr name="TextBox 20" id="20"/>
            <p:cNvSpPr txBox="true"/>
            <p:nvPr/>
          </p:nvSpPr>
          <p:spPr>
            <a:xfrm rot="0">
              <a:off x="0" y="699125"/>
              <a:ext cx="3835400" cy="933238"/>
            </a:xfrm>
            <a:prstGeom prst="rect">
              <a:avLst/>
            </a:prstGeom>
          </p:spPr>
          <p:txBody>
            <a:bodyPr anchor="t" rtlCol="false" tIns="0" lIns="0" bIns="0" rIns="0">
              <a:spAutoFit/>
            </a:bodyPr>
            <a:lstStyle/>
            <a:p>
              <a:pPr algn="l" marL="0" indent="0" lvl="0">
                <a:lnSpc>
                  <a:spcPts val="2764"/>
                </a:lnSpc>
                <a:spcBef>
                  <a:spcPct val="0"/>
                </a:spcBef>
              </a:pPr>
              <a:r>
                <a:rPr lang="en-US" sz="1974" strike="noStrike" u="none">
                  <a:solidFill>
                    <a:srgbClr val="333333"/>
                  </a:solidFill>
                  <a:latin typeface="Carlito"/>
                  <a:ea typeface="Carlito"/>
                  <a:cs typeface="Carlito"/>
                  <a:sym typeface="Carlito"/>
                </a:rPr>
                <a:t>Ensuring reliability through integrated solutions</a:t>
              </a:r>
            </a:p>
          </p:txBody>
        </p:sp>
      </p:grpSp>
      <p:grpSp>
        <p:nvGrpSpPr>
          <p:cNvPr name="Group 21" id="21"/>
          <p:cNvGrpSpPr/>
          <p:nvPr/>
        </p:nvGrpSpPr>
        <p:grpSpPr>
          <a:xfrm rot="0">
            <a:off x="11048446" y="5688965"/>
            <a:ext cx="2876550" cy="1224272"/>
            <a:chOff x="0" y="0"/>
            <a:chExt cx="3835400" cy="1632363"/>
          </a:xfrm>
        </p:grpSpPr>
        <p:sp>
          <p:nvSpPr>
            <p:cNvPr name="TextBox 22" id="22"/>
            <p:cNvSpPr txBox="true"/>
            <p:nvPr/>
          </p:nvSpPr>
          <p:spPr>
            <a:xfrm rot="0">
              <a:off x="0" y="-47625"/>
              <a:ext cx="3835400" cy="514975"/>
            </a:xfrm>
            <a:prstGeom prst="rect">
              <a:avLst/>
            </a:prstGeom>
          </p:spPr>
          <p:txBody>
            <a:bodyPr anchor="t" rtlCol="false" tIns="0" lIns="0" bIns="0" rIns="0">
              <a:spAutoFit/>
            </a:bodyPr>
            <a:lstStyle/>
            <a:p>
              <a:pPr algn="l" marL="0" indent="0" lvl="0">
                <a:lnSpc>
                  <a:spcPts val="3255"/>
                </a:lnSpc>
                <a:spcBef>
                  <a:spcPct val="0"/>
                </a:spcBef>
              </a:pPr>
              <a:r>
                <a:rPr lang="en-US" sz="2325">
                  <a:solidFill>
                    <a:srgbClr val="0078D4"/>
                  </a:solidFill>
                  <a:latin typeface="Radley"/>
                  <a:ea typeface="Radley"/>
                  <a:cs typeface="Radley"/>
                  <a:sym typeface="Radley"/>
                </a:rPr>
                <a:t>Trust &amp; Transparency</a:t>
              </a:r>
            </a:p>
          </p:txBody>
        </p:sp>
        <p:sp>
          <p:nvSpPr>
            <p:cNvPr name="TextBox 23" id="23"/>
            <p:cNvSpPr txBox="true"/>
            <p:nvPr/>
          </p:nvSpPr>
          <p:spPr>
            <a:xfrm rot="0">
              <a:off x="0" y="699125"/>
              <a:ext cx="3835400" cy="933238"/>
            </a:xfrm>
            <a:prstGeom prst="rect">
              <a:avLst/>
            </a:prstGeom>
          </p:spPr>
          <p:txBody>
            <a:bodyPr anchor="t" rtlCol="false" tIns="0" lIns="0" bIns="0" rIns="0">
              <a:spAutoFit/>
            </a:bodyPr>
            <a:lstStyle/>
            <a:p>
              <a:pPr algn="l" marL="0" indent="0" lvl="0">
                <a:lnSpc>
                  <a:spcPts val="2764"/>
                </a:lnSpc>
                <a:spcBef>
                  <a:spcPct val="0"/>
                </a:spcBef>
              </a:pPr>
              <a:r>
                <a:rPr lang="en-US" sz="1974" strike="noStrike" u="none">
                  <a:solidFill>
                    <a:srgbClr val="333333"/>
                  </a:solidFill>
                  <a:latin typeface="Carlito"/>
                  <a:ea typeface="Carlito"/>
                  <a:cs typeface="Carlito"/>
                  <a:sym typeface="Carlito"/>
                </a:rPr>
                <a:t>Fostering compliance in AI applications</a:t>
              </a:r>
            </a:p>
          </p:txBody>
        </p:sp>
      </p:grpSp>
      <p:grpSp>
        <p:nvGrpSpPr>
          <p:cNvPr name="Group 24" id="24"/>
          <p:cNvGrpSpPr/>
          <p:nvPr/>
        </p:nvGrpSpPr>
        <p:grpSpPr>
          <a:xfrm rot="0">
            <a:off x="14504632" y="5688965"/>
            <a:ext cx="2876550" cy="1224272"/>
            <a:chOff x="0" y="0"/>
            <a:chExt cx="3835400" cy="1632363"/>
          </a:xfrm>
        </p:grpSpPr>
        <p:sp>
          <p:nvSpPr>
            <p:cNvPr name="TextBox 25" id="25"/>
            <p:cNvSpPr txBox="true"/>
            <p:nvPr/>
          </p:nvSpPr>
          <p:spPr>
            <a:xfrm rot="0">
              <a:off x="0" y="-47625"/>
              <a:ext cx="3835400" cy="514975"/>
            </a:xfrm>
            <a:prstGeom prst="rect">
              <a:avLst/>
            </a:prstGeom>
          </p:spPr>
          <p:txBody>
            <a:bodyPr anchor="t" rtlCol="false" tIns="0" lIns="0" bIns="0" rIns="0">
              <a:spAutoFit/>
            </a:bodyPr>
            <a:lstStyle/>
            <a:p>
              <a:pPr algn="l" marL="0" indent="0" lvl="0">
                <a:lnSpc>
                  <a:spcPts val="3255"/>
                </a:lnSpc>
                <a:spcBef>
                  <a:spcPct val="0"/>
                </a:spcBef>
              </a:pPr>
              <a:r>
                <a:rPr lang="en-US" sz="2325">
                  <a:solidFill>
                    <a:srgbClr val="0078D4"/>
                  </a:solidFill>
                  <a:latin typeface="Radley"/>
                  <a:ea typeface="Radley"/>
                  <a:cs typeface="Radley"/>
                  <a:sym typeface="Radley"/>
                </a:rPr>
                <a:t>Cloud-Native</a:t>
              </a:r>
            </a:p>
          </p:txBody>
        </p:sp>
        <p:sp>
          <p:nvSpPr>
            <p:cNvPr name="TextBox 26" id="26"/>
            <p:cNvSpPr txBox="true"/>
            <p:nvPr/>
          </p:nvSpPr>
          <p:spPr>
            <a:xfrm rot="0">
              <a:off x="0" y="699125"/>
              <a:ext cx="3835400" cy="933238"/>
            </a:xfrm>
            <a:prstGeom prst="rect">
              <a:avLst/>
            </a:prstGeom>
          </p:spPr>
          <p:txBody>
            <a:bodyPr anchor="t" rtlCol="false" tIns="0" lIns="0" bIns="0" rIns="0">
              <a:spAutoFit/>
            </a:bodyPr>
            <a:lstStyle/>
            <a:p>
              <a:pPr algn="l" marL="0" indent="0" lvl="0">
                <a:lnSpc>
                  <a:spcPts val="2764"/>
                </a:lnSpc>
                <a:spcBef>
                  <a:spcPct val="0"/>
                </a:spcBef>
              </a:pPr>
              <a:r>
                <a:rPr lang="en-US" sz="1974" strike="noStrike" u="none">
                  <a:solidFill>
                    <a:srgbClr val="333333"/>
                  </a:solidFill>
                  <a:latin typeface="Carlito"/>
                  <a:ea typeface="Carlito"/>
                  <a:cs typeface="Carlito"/>
                  <a:sym typeface="Carlito"/>
                </a:rPr>
                <a:t>Supporting scalable AI infrastructure solutions</a:t>
              </a:r>
            </a:p>
          </p:txBody>
        </p:sp>
      </p:grpSp>
      <p:sp>
        <p:nvSpPr>
          <p:cNvPr name="TextBox 27" id="27"/>
          <p:cNvSpPr txBox="true"/>
          <p:nvPr/>
        </p:nvSpPr>
        <p:spPr>
          <a:xfrm rot="0">
            <a:off x="666750" y="7886700"/>
            <a:ext cx="16954500" cy="1004572"/>
          </a:xfrm>
          <a:prstGeom prst="rect">
            <a:avLst/>
          </a:prstGeom>
        </p:spPr>
        <p:txBody>
          <a:bodyPr anchor="t" rtlCol="false" tIns="0" lIns="0" bIns="0" rIns="0">
            <a:spAutoFit/>
          </a:bodyPr>
          <a:lstStyle/>
          <a:p>
            <a:pPr algn="ctr" marL="0" indent="0" lvl="0">
              <a:lnSpc>
                <a:spcPts val="7840"/>
              </a:lnSpc>
              <a:spcBef>
                <a:spcPct val="0"/>
              </a:spcBef>
            </a:pPr>
            <a:r>
              <a:rPr lang="en-US" sz="7000">
                <a:solidFill>
                  <a:srgbClr val="0078D4"/>
                </a:solidFill>
                <a:latin typeface="Radley"/>
                <a:ea typeface="Radley"/>
                <a:cs typeface="Radley"/>
                <a:sym typeface="Radley"/>
              </a:rPr>
              <a:t>Key AI Industry Trends</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666750" y="5143500"/>
            <a:ext cx="4314825" cy="3598545"/>
            <a:chOff x="0" y="0"/>
            <a:chExt cx="5753100" cy="4798060"/>
          </a:xfrm>
        </p:grpSpPr>
        <p:sp>
          <p:nvSpPr>
            <p:cNvPr name="TextBox 3" id="3"/>
            <p:cNvSpPr txBox="true"/>
            <p:nvPr/>
          </p:nvSpPr>
          <p:spPr>
            <a:xfrm rot="0">
              <a:off x="0" y="-47625"/>
              <a:ext cx="5753100" cy="606425"/>
            </a:xfrm>
            <a:prstGeom prst="rect">
              <a:avLst/>
            </a:prstGeom>
          </p:spPr>
          <p:txBody>
            <a:bodyPr anchor="t" rtlCol="false" tIns="0" lIns="0" bIns="0" rIns="0">
              <a:spAutoFit/>
            </a:bodyPr>
            <a:lstStyle/>
            <a:p>
              <a:pPr algn="l" marL="0" indent="0" lvl="0">
                <a:lnSpc>
                  <a:spcPts val="3360"/>
                </a:lnSpc>
                <a:spcBef>
                  <a:spcPct val="0"/>
                </a:spcBef>
              </a:pPr>
              <a:r>
                <a:rPr lang="en-US" b="true" sz="2800" strike="noStrike" u="none">
                  <a:solidFill>
                    <a:srgbClr val="0078D4"/>
                  </a:solidFill>
                  <a:latin typeface="Carlito Bold"/>
                  <a:ea typeface="Carlito Bold"/>
                  <a:cs typeface="Carlito Bold"/>
                  <a:sym typeface="Carlito Bold"/>
                </a:rPr>
                <a:t>Relational Models</a:t>
              </a:r>
            </a:p>
          </p:txBody>
        </p:sp>
        <p:sp>
          <p:nvSpPr>
            <p:cNvPr name="TextBox 4" id="4"/>
            <p:cNvSpPr txBox="true"/>
            <p:nvPr/>
          </p:nvSpPr>
          <p:spPr>
            <a:xfrm rot="0">
              <a:off x="0" y="1127125"/>
              <a:ext cx="5753100" cy="3670935"/>
            </a:xfrm>
            <a:prstGeom prst="rect">
              <a:avLst/>
            </a:prstGeom>
          </p:spPr>
          <p:txBody>
            <a:bodyPr anchor="t" rtlCol="false" tIns="0" lIns="0" bIns="0" rIns="0">
              <a:spAutoFit/>
            </a:bodyPr>
            <a:lstStyle/>
            <a:p>
              <a:pPr algn="l" marL="0" indent="0" lvl="0">
                <a:lnSpc>
                  <a:spcPts val="3120"/>
                </a:lnSpc>
                <a:spcBef>
                  <a:spcPct val="0"/>
                </a:spcBef>
              </a:pPr>
              <a:r>
                <a:rPr lang="en-US" sz="2400" strike="noStrike" u="none">
                  <a:solidFill>
                    <a:srgbClr val="333333"/>
                  </a:solidFill>
                  <a:latin typeface="Carlito"/>
                  <a:ea typeface="Carlito"/>
                  <a:cs typeface="Carlito"/>
                  <a:sym typeface="Carlito"/>
                </a:rPr>
                <a:t>Relational Foundational Models leverage enterprise data to enhance </a:t>
              </a:r>
              <a:r>
                <a:rPr lang="en-US" b="true" sz="2400" strike="noStrike" u="none">
                  <a:solidFill>
                    <a:srgbClr val="333333"/>
                  </a:solidFill>
                  <a:latin typeface="Carlito Bold"/>
                  <a:ea typeface="Carlito Bold"/>
                  <a:cs typeface="Carlito Bold"/>
                  <a:sym typeface="Carlito Bold"/>
                </a:rPr>
                <a:t>reasoning and explainability</a:t>
              </a:r>
              <a:r>
                <a:rPr lang="en-US" sz="2400" strike="noStrike" u="none">
                  <a:solidFill>
                    <a:srgbClr val="333333"/>
                  </a:solidFill>
                  <a:latin typeface="Carlito"/>
                  <a:ea typeface="Carlito"/>
                  <a:cs typeface="Carlito"/>
                  <a:sym typeface="Carlito"/>
                </a:rPr>
                <a:t>, ensuring that AI decisions can be understood and trusted across various applications.</a:t>
              </a:r>
            </a:p>
          </p:txBody>
        </p:sp>
      </p:grpSp>
      <p:grpSp>
        <p:nvGrpSpPr>
          <p:cNvPr name="Group 5" id="5"/>
          <p:cNvGrpSpPr/>
          <p:nvPr/>
        </p:nvGrpSpPr>
        <p:grpSpPr>
          <a:xfrm rot="0">
            <a:off x="5853113" y="5143500"/>
            <a:ext cx="4314825" cy="3208020"/>
            <a:chOff x="0" y="0"/>
            <a:chExt cx="5753100" cy="4277360"/>
          </a:xfrm>
        </p:grpSpPr>
        <p:sp>
          <p:nvSpPr>
            <p:cNvPr name="TextBox 6" id="6"/>
            <p:cNvSpPr txBox="true"/>
            <p:nvPr/>
          </p:nvSpPr>
          <p:spPr>
            <a:xfrm rot="0">
              <a:off x="0" y="-47625"/>
              <a:ext cx="5753100" cy="606425"/>
            </a:xfrm>
            <a:prstGeom prst="rect">
              <a:avLst/>
            </a:prstGeom>
          </p:spPr>
          <p:txBody>
            <a:bodyPr anchor="t" rtlCol="false" tIns="0" lIns="0" bIns="0" rIns="0">
              <a:spAutoFit/>
            </a:bodyPr>
            <a:lstStyle/>
            <a:p>
              <a:pPr algn="l" marL="0" indent="0" lvl="0">
                <a:lnSpc>
                  <a:spcPts val="3360"/>
                </a:lnSpc>
                <a:spcBef>
                  <a:spcPct val="0"/>
                </a:spcBef>
              </a:pPr>
              <a:r>
                <a:rPr lang="en-US" b="true" sz="2800" strike="noStrike" u="none">
                  <a:solidFill>
                    <a:srgbClr val="0078D4"/>
                  </a:solidFill>
                  <a:latin typeface="Carlito Bold"/>
                  <a:ea typeface="Carlito Bold"/>
                  <a:cs typeface="Carlito Bold"/>
                  <a:sym typeface="Carlito Bold"/>
                </a:rPr>
                <a:t>Multimodal Systems</a:t>
              </a:r>
            </a:p>
          </p:txBody>
        </p:sp>
        <p:sp>
          <p:nvSpPr>
            <p:cNvPr name="TextBox 7" id="7"/>
            <p:cNvSpPr txBox="true"/>
            <p:nvPr/>
          </p:nvSpPr>
          <p:spPr>
            <a:xfrm rot="0">
              <a:off x="0" y="1127125"/>
              <a:ext cx="5753100" cy="3150235"/>
            </a:xfrm>
            <a:prstGeom prst="rect">
              <a:avLst/>
            </a:prstGeom>
          </p:spPr>
          <p:txBody>
            <a:bodyPr anchor="t" rtlCol="false" tIns="0" lIns="0" bIns="0" rIns="0">
              <a:spAutoFit/>
            </a:bodyPr>
            <a:lstStyle/>
            <a:p>
              <a:pPr algn="l" marL="0" indent="0" lvl="0">
                <a:lnSpc>
                  <a:spcPts val="3120"/>
                </a:lnSpc>
                <a:spcBef>
                  <a:spcPct val="0"/>
                </a:spcBef>
              </a:pPr>
              <a:r>
                <a:rPr lang="en-US" sz="2400" strike="noStrike" u="none">
                  <a:solidFill>
                    <a:srgbClr val="333333"/>
                  </a:solidFill>
                  <a:latin typeface="Carlito"/>
                  <a:ea typeface="Carlito"/>
                  <a:cs typeface="Carlito"/>
                  <a:sym typeface="Carlito"/>
                </a:rPr>
                <a:t>Multimodal Ingestion integrates diverse data formats, including PDFs and images, into a unified AI system, significantly improving the </a:t>
              </a:r>
              <a:r>
                <a:rPr lang="en-US" b="true" sz="2400" strike="noStrike" u="none">
                  <a:solidFill>
                    <a:srgbClr val="333333"/>
                  </a:solidFill>
                  <a:latin typeface="Carlito Bold"/>
                  <a:ea typeface="Carlito Bold"/>
                  <a:cs typeface="Carlito Bold"/>
                  <a:sym typeface="Carlito Bold"/>
                </a:rPr>
                <a:t>comprehensiveness and accuracy</a:t>
              </a:r>
              <a:r>
                <a:rPr lang="en-US" sz="2400" strike="noStrike" u="none">
                  <a:solidFill>
                    <a:srgbClr val="333333"/>
                  </a:solidFill>
                  <a:latin typeface="Carlito"/>
                  <a:ea typeface="Carlito"/>
                  <a:cs typeface="Carlito"/>
                  <a:sym typeface="Carlito"/>
                </a:rPr>
                <a:t> of AI insights and outcomes.</a:t>
              </a:r>
            </a:p>
          </p:txBody>
        </p:sp>
      </p:grpSp>
      <p:grpSp>
        <p:nvGrpSpPr>
          <p:cNvPr name="Group 8" id="8"/>
          <p:cNvGrpSpPr/>
          <p:nvPr/>
        </p:nvGrpSpPr>
        <p:grpSpPr>
          <a:xfrm rot="0">
            <a:off x="11044238" y="5143500"/>
            <a:ext cx="4314825" cy="3598545"/>
            <a:chOff x="0" y="0"/>
            <a:chExt cx="5753100" cy="4798060"/>
          </a:xfrm>
        </p:grpSpPr>
        <p:sp>
          <p:nvSpPr>
            <p:cNvPr name="TextBox 9" id="9"/>
            <p:cNvSpPr txBox="true"/>
            <p:nvPr/>
          </p:nvSpPr>
          <p:spPr>
            <a:xfrm rot="0">
              <a:off x="0" y="-47625"/>
              <a:ext cx="5753100" cy="606425"/>
            </a:xfrm>
            <a:prstGeom prst="rect">
              <a:avLst/>
            </a:prstGeom>
          </p:spPr>
          <p:txBody>
            <a:bodyPr anchor="t" rtlCol="false" tIns="0" lIns="0" bIns="0" rIns="0">
              <a:spAutoFit/>
            </a:bodyPr>
            <a:lstStyle/>
            <a:p>
              <a:pPr algn="l" marL="0" indent="0" lvl="0">
                <a:lnSpc>
                  <a:spcPts val="3360"/>
                </a:lnSpc>
                <a:spcBef>
                  <a:spcPct val="0"/>
                </a:spcBef>
              </a:pPr>
              <a:r>
                <a:rPr lang="en-US" b="true" sz="2800" strike="noStrike" u="none">
                  <a:solidFill>
                    <a:srgbClr val="0078D4"/>
                  </a:solidFill>
                  <a:latin typeface="Carlito Bold"/>
                  <a:ea typeface="Carlito Bold"/>
                  <a:cs typeface="Carlito Bold"/>
                  <a:sym typeface="Carlito Bold"/>
                </a:rPr>
                <a:t>Enhanced Collaboration</a:t>
              </a:r>
            </a:p>
          </p:txBody>
        </p:sp>
        <p:sp>
          <p:nvSpPr>
            <p:cNvPr name="TextBox 10" id="10"/>
            <p:cNvSpPr txBox="true"/>
            <p:nvPr/>
          </p:nvSpPr>
          <p:spPr>
            <a:xfrm rot="0">
              <a:off x="0" y="1127125"/>
              <a:ext cx="5753100" cy="3670935"/>
            </a:xfrm>
            <a:prstGeom prst="rect">
              <a:avLst/>
            </a:prstGeom>
          </p:spPr>
          <p:txBody>
            <a:bodyPr anchor="t" rtlCol="false" tIns="0" lIns="0" bIns="0" rIns="0">
              <a:spAutoFit/>
            </a:bodyPr>
            <a:lstStyle/>
            <a:p>
              <a:pPr algn="l" marL="0" indent="0" lvl="0">
                <a:lnSpc>
                  <a:spcPts val="3120"/>
                </a:lnSpc>
                <a:spcBef>
                  <a:spcPct val="0"/>
                </a:spcBef>
              </a:pPr>
              <a:r>
                <a:rPr lang="en-US" sz="2400" strike="noStrike" u="none">
                  <a:solidFill>
                    <a:srgbClr val="333333"/>
                  </a:solidFill>
                  <a:latin typeface="Carlito"/>
                  <a:ea typeface="Carlito"/>
                  <a:cs typeface="Carlito"/>
                  <a:sym typeface="Carlito"/>
                </a:rPr>
                <a:t>By combining relational data and multimodal capabilities, organizations can foster improved </a:t>
              </a:r>
              <a:r>
                <a:rPr lang="en-US" b="true" sz="2400" strike="noStrike" u="none">
                  <a:solidFill>
                    <a:srgbClr val="333333"/>
                  </a:solidFill>
                  <a:latin typeface="Carlito Bold"/>
                  <a:ea typeface="Carlito Bold"/>
                  <a:cs typeface="Carlito Bold"/>
                  <a:sym typeface="Carlito Bold"/>
                </a:rPr>
                <a:t>collaboration</a:t>
              </a:r>
              <a:r>
                <a:rPr lang="en-US" sz="2400" strike="noStrike" u="none">
                  <a:solidFill>
                    <a:srgbClr val="333333"/>
                  </a:solidFill>
                  <a:latin typeface="Carlito"/>
                  <a:ea typeface="Carlito"/>
                  <a:cs typeface="Carlito"/>
                  <a:sym typeface="Carlito"/>
                </a:rPr>
                <a:t> across departments, breaking down data silos and enhancing overall decision-making efficiency.</a:t>
              </a:r>
            </a:p>
          </p:txBody>
        </p:sp>
      </p:grpSp>
      <p:grpSp>
        <p:nvGrpSpPr>
          <p:cNvPr name="Group 11" id="11"/>
          <p:cNvGrpSpPr/>
          <p:nvPr/>
        </p:nvGrpSpPr>
        <p:grpSpPr>
          <a:xfrm rot="0">
            <a:off x="666750" y="666750"/>
            <a:ext cx="12944475" cy="1795780"/>
            <a:chOff x="0" y="0"/>
            <a:chExt cx="17259300" cy="2394374"/>
          </a:xfrm>
        </p:grpSpPr>
        <p:sp>
          <p:nvSpPr>
            <p:cNvPr name="TextBox 12" id="12"/>
            <p:cNvSpPr txBox="true"/>
            <p:nvPr/>
          </p:nvSpPr>
          <p:spPr>
            <a:xfrm rot="0">
              <a:off x="0" y="142875"/>
              <a:ext cx="17259300" cy="1275292"/>
            </a:xfrm>
            <a:prstGeom prst="rect">
              <a:avLst/>
            </a:prstGeom>
          </p:spPr>
          <p:txBody>
            <a:bodyPr anchor="t" rtlCol="false" tIns="0" lIns="0" bIns="0" rIns="0">
              <a:spAutoFit/>
            </a:bodyPr>
            <a:lstStyle/>
            <a:p>
              <a:pPr algn="l" marL="0" indent="0" lvl="0">
                <a:lnSpc>
                  <a:spcPts val="6999"/>
                </a:lnSpc>
              </a:pPr>
              <a:r>
                <a:rPr lang="en-US" sz="6999">
                  <a:solidFill>
                    <a:srgbClr val="0078D4"/>
                  </a:solidFill>
                  <a:latin typeface="Radley"/>
                  <a:ea typeface="Radley"/>
                  <a:cs typeface="Radley"/>
                  <a:sym typeface="Radley"/>
                </a:rPr>
                <a:t>Emerging Research Directions</a:t>
              </a:r>
            </a:p>
          </p:txBody>
        </p:sp>
        <p:sp>
          <p:nvSpPr>
            <p:cNvPr name="TextBox 13" id="13"/>
            <p:cNvSpPr txBox="true"/>
            <p:nvPr/>
          </p:nvSpPr>
          <p:spPr>
            <a:xfrm rot="0">
              <a:off x="0" y="1771650"/>
              <a:ext cx="17259300" cy="622724"/>
            </a:xfrm>
            <a:prstGeom prst="rect">
              <a:avLst/>
            </a:prstGeom>
          </p:spPr>
          <p:txBody>
            <a:bodyPr anchor="t" rtlCol="false" tIns="0" lIns="0" bIns="0" rIns="0">
              <a:spAutoFit/>
            </a:bodyPr>
            <a:lstStyle/>
            <a:p>
              <a:pPr algn="l" marL="0" indent="0" lvl="0">
                <a:lnSpc>
                  <a:spcPts val="3919"/>
                </a:lnSpc>
                <a:spcBef>
                  <a:spcPct val="0"/>
                </a:spcBef>
              </a:pPr>
              <a:r>
                <a:rPr lang="en-US" sz="2799" strike="noStrike" u="none">
                  <a:solidFill>
                    <a:srgbClr val="333333"/>
                  </a:solidFill>
                  <a:latin typeface="Radley"/>
                  <a:ea typeface="Radley"/>
                  <a:cs typeface="Radley"/>
                  <a:sym typeface="Radley"/>
                </a:rPr>
                <a:t>Exploring the Future of AI Innovations</a:t>
              </a:r>
            </a:p>
          </p:txBody>
        </p:sp>
      </p:grpSp>
      <p:grpSp>
        <p:nvGrpSpPr>
          <p:cNvPr name="Group 14" id="14"/>
          <p:cNvGrpSpPr/>
          <p:nvPr/>
        </p:nvGrpSpPr>
        <p:grpSpPr>
          <a:xfrm rot="0">
            <a:off x="17202135" y="459202"/>
            <a:ext cx="2171730" cy="2205796"/>
            <a:chOff x="0" y="0"/>
            <a:chExt cx="812800" cy="825500"/>
          </a:xfrm>
        </p:grpSpPr>
        <p:sp>
          <p:nvSpPr>
            <p:cNvPr name="Freeform 15" id="15"/>
            <p:cNvSpPr/>
            <p:nvPr/>
          </p:nvSpPr>
          <p:spPr>
            <a:xfrm flipH="false" flipV="false" rot="0">
              <a:off x="1270" y="0"/>
              <a:ext cx="810260" cy="822960"/>
            </a:xfrm>
            <a:custGeom>
              <a:avLst/>
              <a:gdLst/>
              <a:ahLst/>
              <a:cxnLst/>
              <a:rect r="r" b="b" t="t" l="l"/>
              <a:pathLst>
                <a:path h="822960" w="810260">
                  <a:moveTo>
                    <a:pt x="405130" y="0"/>
                  </a:moveTo>
                  <a:lnTo>
                    <a:pt x="450850" y="151130"/>
                  </a:lnTo>
                  <a:lnTo>
                    <a:pt x="546100" y="25400"/>
                  </a:lnTo>
                  <a:lnTo>
                    <a:pt x="537210" y="181610"/>
                  </a:lnTo>
                  <a:lnTo>
                    <a:pt x="669290" y="96520"/>
                  </a:lnTo>
                  <a:lnTo>
                    <a:pt x="608330" y="241300"/>
                  </a:lnTo>
                  <a:lnTo>
                    <a:pt x="760730" y="205740"/>
                  </a:lnTo>
                  <a:lnTo>
                    <a:pt x="654050" y="321310"/>
                  </a:lnTo>
                  <a:lnTo>
                    <a:pt x="810260" y="340360"/>
                  </a:lnTo>
                  <a:lnTo>
                    <a:pt x="669290" y="411480"/>
                  </a:lnTo>
                  <a:lnTo>
                    <a:pt x="810260" y="482600"/>
                  </a:lnTo>
                  <a:lnTo>
                    <a:pt x="654050" y="501650"/>
                  </a:lnTo>
                  <a:lnTo>
                    <a:pt x="760730" y="617220"/>
                  </a:lnTo>
                  <a:lnTo>
                    <a:pt x="608330" y="581660"/>
                  </a:lnTo>
                  <a:lnTo>
                    <a:pt x="669290" y="726440"/>
                  </a:lnTo>
                  <a:lnTo>
                    <a:pt x="537210" y="640080"/>
                  </a:lnTo>
                  <a:lnTo>
                    <a:pt x="546100" y="797560"/>
                  </a:lnTo>
                  <a:lnTo>
                    <a:pt x="450850" y="671830"/>
                  </a:lnTo>
                  <a:lnTo>
                    <a:pt x="405130" y="822960"/>
                  </a:lnTo>
                  <a:lnTo>
                    <a:pt x="359410" y="671830"/>
                  </a:lnTo>
                  <a:lnTo>
                    <a:pt x="264160" y="797560"/>
                  </a:lnTo>
                  <a:lnTo>
                    <a:pt x="273050" y="640080"/>
                  </a:lnTo>
                  <a:lnTo>
                    <a:pt x="140970" y="726440"/>
                  </a:lnTo>
                  <a:lnTo>
                    <a:pt x="201930" y="581660"/>
                  </a:lnTo>
                  <a:lnTo>
                    <a:pt x="49530" y="617220"/>
                  </a:lnTo>
                  <a:lnTo>
                    <a:pt x="156210" y="501650"/>
                  </a:lnTo>
                  <a:lnTo>
                    <a:pt x="0" y="482600"/>
                  </a:lnTo>
                  <a:lnTo>
                    <a:pt x="140970" y="411480"/>
                  </a:lnTo>
                  <a:lnTo>
                    <a:pt x="0" y="340360"/>
                  </a:lnTo>
                  <a:lnTo>
                    <a:pt x="156210" y="321310"/>
                  </a:lnTo>
                  <a:lnTo>
                    <a:pt x="49530" y="205740"/>
                  </a:lnTo>
                  <a:lnTo>
                    <a:pt x="201930" y="241300"/>
                  </a:lnTo>
                  <a:lnTo>
                    <a:pt x="140970" y="96520"/>
                  </a:lnTo>
                  <a:lnTo>
                    <a:pt x="273050" y="181610"/>
                  </a:lnTo>
                  <a:lnTo>
                    <a:pt x="264160" y="25400"/>
                  </a:lnTo>
                  <a:lnTo>
                    <a:pt x="359410" y="151130"/>
                  </a:lnTo>
                  <a:close/>
                </a:path>
              </a:pathLst>
            </a:custGeom>
            <a:solidFill>
              <a:srgbClr val="0078D4"/>
            </a:solidFill>
          </p:spPr>
        </p:sp>
        <p:sp>
          <p:nvSpPr>
            <p:cNvPr name="TextBox 16" id="16"/>
            <p:cNvSpPr txBox="true"/>
            <p:nvPr/>
          </p:nvSpPr>
          <p:spPr>
            <a:xfrm>
              <a:off x="141746" y="112576"/>
              <a:ext cx="529308" cy="559367"/>
            </a:xfrm>
            <a:prstGeom prst="rect">
              <a:avLst/>
            </a:prstGeom>
          </p:spPr>
          <p:txBody>
            <a:bodyPr anchor="ctr" rtlCol="false" tIns="50800" lIns="50800" bIns="50800" rIns="50800"/>
            <a:lstStyle/>
            <a:p>
              <a:pPr algn="ctr" marL="0" indent="0" lvl="0">
                <a:lnSpc>
                  <a:spcPts val="3359"/>
                </a:lnSpc>
                <a:spcBef>
                  <a:spcPct val="0"/>
                </a:spcBef>
              </a:pPr>
            </a:p>
          </p:txBody>
        </p:sp>
      </p:gr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0734674" y="2932118"/>
            <a:ext cx="6569697" cy="4349743"/>
            <a:chOff x="0" y="0"/>
            <a:chExt cx="8759596" cy="5799657"/>
          </a:xfrm>
        </p:grpSpPr>
        <p:sp>
          <p:nvSpPr>
            <p:cNvPr name="AutoShape 3" id="3"/>
            <p:cNvSpPr/>
            <p:nvPr/>
          </p:nvSpPr>
          <p:spPr>
            <a:xfrm flipV="true">
              <a:off x="18" y="4140192"/>
              <a:ext cx="8759543" cy="12700"/>
            </a:xfrm>
            <a:prstGeom prst="line">
              <a:avLst/>
            </a:prstGeom>
            <a:ln cap="flat" w="25400">
              <a:solidFill>
                <a:srgbClr val="0078D4"/>
              </a:solidFill>
              <a:prstDash val="solid"/>
              <a:headEnd type="none" len="sm" w="sm"/>
              <a:tailEnd type="none" len="sm" w="sm"/>
            </a:ln>
          </p:spPr>
        </p:sp>
        <p:sp>
          <p:nvSpPr>
            <p:cNvPr name="AutoShape 4" id="4"/>
            <p:cNvSpPr/>
            <p:nvPr/>
          </p:nvSpPr>
          <p:spPr>
            <a:xfrm flipV="true">
              <a:off x="35" y="1748365"/>
              <a:ext cx="8759543" cy="12700"/>
            </a:xfrm>
            <a:prstGeom prst="line">
              <a:avLst/>
            </a:prstGeom>
            <a:ln cap="flat" w="25400">
              <a:solidFill>
                <a:srgbClr val="0078D4"/>
              </a:solidFill>
              <a:prstDash val="solid"/>
              <a:headEnd type="none" len="sm" w="sm"/>
              <a:tailEnd type="none" len="sm" w="sm"/>
            </a:ln>
          </p:spPr>
        </p:sp>
        <p:sp>
          <p:nvSpPr>
            <p:cNvPr name="TextBox 5" id="5"/>
            <p:cNvSpPr txBox="true"/>
            <p:nvPr/>
          </p:nvSpPr>
          <p:spPr>
            <a:xfrm rot="0">
              <a:off x="52" y="-76200"/>
              <a:ext cx="8759543" cy="478365"/>
            </a:xfrm>
            <a:prstGeom prst="rect">
              <a:avLst/>
            </a:prstGeom>
          </p:spPr>
          <p:txBody>
            <a:bodyPr anchor="t" rtlCol="false" tIns="0" lIns="0" bIns="0" rIns="0">
              <a:spAutoFit/>
            </a:bodyPr>
            <a:lstStyle/>
            <a:p>
              <a:pPr algn="l" marL="0" indent="0" lvl="0">
                <a:lnSpc>
                  <a:spcPts val="2800"/>
                </a:lnSpc>
                <a:spcBef>
                  <a:spcPct val="0"/>
                </a:spcBef>
              </a:pPr>
              <a:r>
                <a:rPr lang="en-US" sz="2000">
                  <a:solidFill>
                    <a:srgbClr val="333333"/>
                  </a:solidFill>
                  <a:latin typeface="Carlito"/>
                  <a:ea typeface="Carlito"/>
                  <a:cs typeface="Carlito"/>
                  <a:sym typeface="Carlito"/>
                </a:rPr>
                <a:t>WEBSITE</a:t>
              </a:r>
            </a:p>
          </p:txBody>
        </p:sp>
        <p:sp>
          <p:nvSpPr>
            <p:cNvPr name="TextBox 6" id="6"/>
            <p:cNvSpPr txBox="true"/>
            <p:nvPr/>
          </p:nvSpPr>
          <p:spPr>
            <a:xfrm rot="0">
              <a:off x="52" y="414865"/>
              <a:ext cx="8759543" cy="698500"/>
            </a:xfrm>
            <a:prstGeom prst="rect">
              <a:avLst/>
            </a:prstGeom>
          </p:spPr>
          <p:txBody>
            <a:bodyPr anchor="t" rtlCol="false" tIns="0" lIns="0" bIns="0" rIns="0">
              <a:spAutoFit/>
            </a:bodyPr>
            <a:lstStyle/>
            <a:p>
              <a:pPr algn="l" marL="0" indent="0" lvl="0">
                <a:lnSpc>
                  <a:spcPts val="4199"/>
                </a:lnSpc>
              </a:pPr>
              <a:r>
                <a:rPr lang="en-US" sz="3499">
                  <a:solidFill>
                    <a:srgbClr val="0078D4"/>
                  </a:solidFill>
                  <a:latin typeface="Radley"/>
                  <a:ea typeface="Radley"/>
                  <a:cs typeface="Radley"/>
                  <a:sym typeface="Radley"/>
                </a:rPr>
                <a:t>reallygreatsite.com</a:t>
              </a:r>
            </a:p>
          </p:txBody>
        </p:sp>
        <p:sp>
          <p:nvSpPr>
            <p:cNvPr name="TextBox 7" id="7"/>
            <p:cNvSpPr txBox="true"/>
            <p:nvPr/>
          </p:nvSpPr>
          <p:spPr>
            <a:xfrm rot="0">
              <a:off x="52" y="2317746"/>
              <a:ext cx="8759543" cy="478365"/>
            </a:xfrm>
            <a:prstGeom prst="rect">
              <a:avLst/>
            </a:prstGeom>
          </p:spPr>
          <p:txBody>
            <a:bodyPr anchor="t" rtlCol="false" tIns="0" lIns="0" bIns="0" rIns="0">
              <a:spAutoFit/>
            </a:bodyPr>
            <a:lstStyle/>
            <a:p>
              <a:pPr algn="l" marL="0" indent="0" lvl="0">
                <a:lnSpc>
                  <a:spcPts val="2800"/>
                </a:lnSpc>
                <a:spcBef>
                  <a:spcPct val="0"/>
                </a:spcBef>
              </a:pPr>
              <a:r>
                <a:rPr lang="en-US" sz="2000">
                  <a:solidFill>
                    <a:srgbClr val="333333"/>
                  </a:solidFill>
                  <a:latin typeface="Carlito"/>
                  <a:ea typeface="Carlito"/>
                  <a:cs typeface="Carlito"/>
                  <a:sym typeface="Carlito"/>
                </a:rPr>
                <a:t>EMAIL</a:t>
              </a:r>
            </a:p>
          </p:txBody>
        </p:sp>
        <p:sp>
          <p:nvSpPr>
            <p:cNvPr name="TextBox 8" id="8"/>
            <p:cNvSpPr txBox="true"/>
            <p:nvPr/>
          </p:nvSpPr>
          <p:spPr>
            <a:xfrm rot="0">
              <a:off x="52" y="2808811"/>
              <a:ext cx="8759543" cy="698500"/>
            </a:xfrm>
            <a:prstGeom prst="rect">
              <a:avLst/>
            </a:prstGeom>
          </p:spPr>
          <p:txBody>
            <a:bodyPr anchor="t" rtlCol="false" tIns="0" lIns="0" bIns="0" rIns="0">
              <a:spAutoFit/>
            </a:bodyPr>
            <a:lstStyle/>
            <a:p>
              <a:pPr algn="l" marL="0" indent="0" lvl="0">
                <a:lnSpc>
                  <a:spcPts val="4199"/>
                </a:lnSpc>
                <a:spcBef>
                  <a:spcPct val="0"/>
                </a:spcBef>
              </a:pPr>
              <a:r>
                <a:rPr lang="en-US" sz="3499" strike="noStrike" u="none">
                  <a:solidFill>
                    <a:srgbClr val="0078D4"/>
                  </a:solidFill>
                  <a:latin typeface="Radley"/>
                  <a:ea typeface="Radley"/>
                  <a:cs typeface="Radley"/>
                  <a:sym typeface="Radley"/>
                </a:rPr>
                <a:t>hello@reallygreatsite.com</a:t>
              </a:r>
            </a:p>
          </p:txBody>
        </p:sp>
        <p:sp>
          <p:nvSpPr>
            <p:cNvPr name="TextBox 9" id="9"/>
            <p:cNvSpPr txBox="true"/>
            <p:nvPr/>
          </p:nvSpPr>
          <p:spPr>
            <a:xfrm rot="0">
              <a:off x="52" y="4610092"/>
              <a:ext cx="8759543" cy="478365"/>
            </a:xfrm>
            <a:prstGeom prst="rect">
              <a:avLst/>
            </a:prstGeom>
          </p:spPr>
          <p:txBody>
            <a:bodyPr anchor="t" rtlCol="false" tIns="0" lIns="0" bIns="0" rIns="0">
              <a:spAutoFit/>
            </a:bodyPr>
            <a:lstStyle/>
            <a:p>
              <a:pPr algn="l" marL="0" indent="0" lvl="0">
                <a:lnSpc>
                  <a:spcPts val="2800"/>
                </a:lnSpc>
                <a:spcBef>
                  <a:spcPct val="0"/>
                </a:spcBef>
              </a:pPr>
              <a:r>
                <a:rPr lang="en-US" sz="2000">
                  <a:solidFill>
                    <a:srgbClr val="333333"/>
                  </a:solidFill>
                  <a:latin typeface="Carlito"/>
                  <a:ea typeface="Carlito"/>
                  <a:cs typeface="Carlito"/>
                  <a:sym typeface="Carlito"/>
                </a:rPr>
                <a:t>PHONE</a:t>
              </a:r>
            </a:p>
          </p:txBody>
        </p:sp>
        <p:sp>
          <p:nvSpPr>
            <p:cNvPr name="TextBox 10" id="10"/>
            <p:cNvSpPr txBox="true"/>
            <p:nvPr/>
          </p:nvSpPr>
          <p:spPr>
            <a:xfrm rot="0">
              <a:off x="52" y="5101157"/>
              <a:ext cx="8759543" cy="698500"/>
            </a:xfrm>
            <a:prstGeom prst="rect">
              <a:avLst/>
            </a:prstGeom>
          </p:spPr>
          <p:txBody>
            <a:bodyPr anchor="t" rtlCol="false" tIns="0" lIns="0" bIns="0" rIns="0">
              <a:spAutoFit/>
            </a:bodyPr>
            <a:lstStyle/>
            <a:p>
              <a:pPr algn="l" marL="0" indent="0" lvl="0">
                <a:lnSpc>
                  <a:spcPts val="4199"/>
                </a:lnSpc>
                <a:spcBef>
                  <a:spcPct val="0"/>
                </a:spcBef>
              </a:pPr>
              <a:r>
                <a:rPr lang="en-US" sz="3499" strike="noStrike" u="none">
                  <a:solidFill>
                    <a:srgbClr val="0078D4"/>
                  </a:solidFill>
                  <a:latin typeface="Radley"/>
                  <a:ea typeface="Radley"/>
                  <a:cs typeface="Radley"/>
                  <a:sym typeface="Radley"/>
                </a:rPr>
                <a:t>123-456-7890</a:t>
              </a:r>
            </a:p>
          </p:txBody>
        </p:sp>
      </p:grpSp>
      <p:grpSp>
        <p:nvGrpSpPr>
          <p:cNvPr name="Group 11" id="11"/>
          <p:cNvGrpSpPr/>
          <p:nvPr/>
        </p:nvGrpSpPr>
        <p:grpSpPr>
          <a:xfrm rot="0">
            <a:off x="666750" y="2963509"/>
            <a:ext cx="8324850" cy="3911919"/>
            <a:chOff x="0" y="0"/>
            <a:chExt cx="11099800" cy="5215892"/>
          </a:xfrm>
        </p:grpSpPr>
        <p:sp>
          <p:nvSpPr>
            <p:cNvPr name="TextBox 12" id="12"/>
            <p:cNvSpPr txBox="true"/>
            <p:nvPr/>
          </p:nvSpPr>
          <p:spPr>
            <a:xfrm rot="0">
              <a:off x="49111" y="1215813"/>
              <a:ext cx="11050689" cy="4000079"/>
            </a:xfrm>
            <a:prstGeom prst="rect">
              <a:avLst/>
            </a:prstGeom>
          </p:spPr>
          <p:txBody>
            <a:bodyPr anchor="t" rtlCol="false" tIns="0" lIns="0" bIns="0" rIns="0">
              <a:spAutoFit/>
            </a:bodyPr>
            <a:lstStyle/>
            <a:p>
              <a:pPr algn="l" marL="0" indent="0" lvl="0">
                <a:lnSpc>
                  <a:spcPts val="7840"/>
                </a:lnSpc>
              </a:pPr>
              <a:r>
                <a:rPr lang="en-US" sz="7000">
                  <a:solidFill>
                    <a:srgbClr val="0078D4"/>
                  </a:solidFill>
                  <a:latin typeface="Radley"/>
                  <a:ea typeface="Radley"/>
                  <a:cs typeface="Radley"/>
                  <a:sym typeface="Radley"/>
                </a:rPr>
                <a:t>Get in touch for more information today!</a:t>
              </a:r>
            </a:p>
          </p:txBody>
        </p:sp>
        <p:sp>
          <p:nvSpPr>
            <p:cNvPr name="TextBox 13" id="13"/>
            <p:cNvSpPr txBox="true"/>
            <p:nvPr/>
          </p:nvSpPr>
          <p:spPr>
            <a:xfrm rot="0">
              <a:off x="0" y="57150"/>
              <a:ext cx="11050689" cy="645583"/>
            </a:xfrm>
            <a:prstGeom prst="rect">
              <a:avLst/>
            </a:prstGeom>
          </p:spPr>
          <p:txBody>
            <a:bodyPr anchor="t" rtlCol="false" tIns="0" lIns="0" bIns="0" rIns="0">
              <a:spAutoFit/>
            </a:bodyPr>
            <a:lstStyle/>
            <a:p>
              <a:pPr algn="l" marL="0" indent="0" lvl="0">
                <a:lnSpc>
                  <a:spcPts val="3500"/>
                </a:lnSpc>
              </a:pPr>
              <a:r>
                <a:rPr lang="en-US" sz="3500" i="true" u="none">
                  <a:solidFill>
                    <a:srgbClr val="0078D4"/>
                  </a:solidFill>
                  <a:latin typeface="Radley Italics"/>
                  <a:ea typeface="Radley Italics"/>
                  <a:cs typeface="Radley Italics"/>
                  <a:sym typeface="Radley Italics"/>
                </a:rPr>
                <a:t>UHC</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Presentation - AI Industry Trends</dc:description>
  <dc:identifier>DAG3r5QgmP8</dc:identifier>
  <dcterms:modified xsi:type="dcterms:W3CDTF">2011-08-01T06:04:30Z</dcterms:modified>
  <cp:revision>1</cp:revision>
  <dc:title>Presentation - AI Industry Trends</dc:title>
</cp:coreProperties>
</file>