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3.xml"/><Relationship Id="rId11" Type="http://schemas.openxmlformats.org/officeDocument/2006/relationships/slide" Target="slides/slide4.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br/>
            <a:r>
              <a:t>[Transcript – Slide 1 – 7 minutes]</a:t>
            </a:r>
            <a:br/>
            <a:br/>
            <a:r>
              <a:t>“Good morning, team. Today we’re tackling one of the biggest integration gaps in LingoAI: how to let users keep their familiar point‑and‑click screens while the conversational agent still understands—and reacts to—everything they do.</a:t>
            </a:r>
            <a:br/>
            <a:br/>
            <a:r>
              <a:t>Think about our current reality. We’ve spent months giving brokers the ‘Just ask Lingo’ experience, but the moment they jump into a micro‑frontend to upload a member form or pull a commissions report, the bot goes dark. It can’t ‘see’ the clicks, so we lose context, observability, and frankly credibility.</a:t>
            </a:r>
            <a:br/>
            <a:br/>
            <a:r>
              <a:t>Our goal over the next few minutes is to show you that this isn’t a hard fork between web UX and chat UX. It’s a bridgeable gap, and the bridge is a lightweight event bus that every MFE team can adopt in less than a day. I’ll cover the pain points, walk through the reference architecture, demo the click‑to‑Kafka flow, and close with rollout steps. We’ll keep it at a high level first, then dive into the details slide by slide.</a:t>
            </a:r>
            <a:br/>
            <a:br/>
            <a:r>
              <a:t>By the end, you’ll know exactly where your React code stops and the shared SDK starts, so your features slot into the bigger LingoAI narrative without rewrites or unsafe workarounds.”</a:t>
            </a:r>
            <a:b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br/>
            <a:r>
              <a:t>[Transcript – Slide 2 – 8 minutes]</a:t>
            </a:r>
            <a:br/>
            <a:br/>
            <a:r>
              <a:t>“Let’s unpack what’s actually broken.</a:t>
            </a:r>
            <a:br/>
            <a:br/>
            <a:r>
              <a:t>First, **context fragmentation**. Each micro‑frontend runs its own React bundle inside an iframe or module‑federated slot. When a broker changes coverage level or clicks ‘Submit’, that DOM event never crosses into our chat pipeline. Momentum is lost and the user wonders why the bot suddenly ‘forgot’ the task.</a:t>
            </a:r>
            <a:br/>
            <a:br/>
            <a:r>
              <a:t>Second, **schema chaos**. Right now the benefit‑summary team ships a `onFormSave()` callback with one JSON shape; the commissions team uses another. Ops can’t unify logs, and downstream services break when shapes drift.</a:t>
            </a:r>
            <a:br/>
            <a:br/>
            <a:r>
              <a:t>Third, **security blind spots**. Some MFEs send form bodies directly to their APIs. Others funnel data through chat. Without a uniform auth story, we risk JWT leakage, CORS errors, or worse: un‑audited PII crossing domains.</a:t>
            </a:r>
            <a:br/>
            <a:br/>
            <a:r>
              <a:t>Finally, **observability black holes**. Dynatrace shows we spent 4 seconds calling the enrollment API, but has no clue the user took 90 seconds filling the form. Our SREs see half the movie.</a:t>
            </a:r>
            <a:br/>
            <a:br/>
            <a:r>
              <a:t>The event‑bus architecture we’ll show in the next slide solves these four pain points by standardising on CloudEvents, wrapping every browser interaction with OpenTelemetry, and pushing it all through a single WebSocket gateway.”</a:t>
            </a:r>
            <a:b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br/>
            <a:r>
              <a:t>[Transcript – Slide 3 – 9 minutes]</a:t>
            </a:r>
            <a:br/>
            <a:br/>
            <a:r>
              <a:t>“Here’s the heart of the solution—our reference architecture.</a:t>
            </a:r>
            <a:br/>
            <a:br/>
            <a:r>
              <a:t>**Left side** is the browser. Each MFE—blue boxes—imports a three‑kilobyte NPM package we call `@lingo/bridge`. One line of code, `bridge.init({app:'enrollment'})`, and every click or custom domain event becomes a CloudEvent JSON. The SDK also starts an OpenTelemetry browser tracer, so we have span IDs right from the user’s first click.</a:t>
            </a:r>
            <a:br/>
            <a:br/>
            <a:r>
              <a:t>Those events travel via `postMessage` into the ChatShell host and are forwarded by a thin EventBus over a secure WebSocket. Remember, no business logic here—just transport.</a:t>
            </a:r>
            <a:br/>
            <a:br/>
            <a:r>
              <a:t>**Middle tier** is the Event‑Gateway. Stateless Node or Go service, horizontally scalable, sitting behind the existing ingress. It upgrades the connection to WebSocket, validates the broker’s JWT, stamps in tenant and user IDs, and publishes the raw JSON into Kafka topic `ui.events`. Because we’re carrying the W3C `traceparent` header, Dynatrace will stitch browser spans to gateway spans automatically.</a:t>
            </a:r>
            <a:br/>
            <a:br/>
            <a:r>
              <a:t>**Right side**: LangGraph UiEventRouter picks up those messages, pattern‑matches on `ce.type`. If it’s `lingo.member.form.submitted`, the router updates the agent context and might call `createMember()` in the enrollment API. Every downstream span keeps the same trace ID, so SREs see one waterfall from click to database write.</a:t>
            </a:r>
            <a:br/>
            <a:br/>
            <a:r>
              <a:t>Kafka gives us durable, replayable streams—QA can replay a prod session in staging, analytics can compute drop‑off rates, audit can prove compliance.</a:t>
            </a:r>
            <a:br/>
            <a:br/>
            <a:r>
              <a:t>Everything else—tools, databases, dashboards—consume the same events without extra code.”</a:t>
            </a:r>
            <a:b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br/>
            <a:r>
              <a:t>[Transcript – Slide 4 – 6 minutes]</a:t>
            </a:r>
            <a:br/>
            <a:br/>
            <a:r>
              <a:t>“Let’s animate what actually happens at runtime.</a:t>
            </a:r>
            <a:br/>
            <a:br/>
            <a:r>
              <a:t>1. **User action**—the broker hits ‘Submit Enrollment’. No surprises here.</a:t>
            </a:r>
            <a:br/>
            <a:br/>
            <a:r>
              <a:t>2. **Bridge emit**—the MFE’s `onSubmit` handler calls `bridge.emit`. Under the hood that’s two lines: start a span, build a CloudEvent, fire a `postMessage` to the parent frame.</a:t>
            </a:r>
            <a:br/>
            <a:br/>
            <a:r>
              <a:t>3. **Transport**—ChatShell’s EventBus, already connected to `wss://api.lingo.ai/ui-events`, streams the JSON. The gateway writes the same object into Kafka under the key equal to the CloudEvent ID. That guarantees ordering for each session.</a:t>
            </a:r>
            <a:br/>
            <a:br/>
            <a:r>
              <a:t>4. **Agent reaction**—LangGraph’s router receives the message milliseconds later, enriches memory, and decides: ‘We’ve got a completed form. Next logical step: ask if they want an ID card.’ It calls the enrollment API, waits for 201, then pushes a text node back to the chat.</a:t>
            </a:r>
            <a:br/>
            <a:br/>
            <a:r>
              <a:t>5. **User sees continuity**—No jarring shift from form to chat. The bot quotes the member ID it just created and offers the next micro‑task. From the broker’s perspective, the web form and the conversation feel like one continuous assistant.</a:t>
            </a:r>
            <a:br/>
            <a:br/>
            <a:r>
              <a:t>End‑to‑end latency? Sub‑200 ms back‑end; full trace in Dynatrace. And if any part fails, we’ve got retries and durable logs in Kafka.”</a:t>
            </a:r>
            <a:b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LingoAI Embedded UI Event Bus Solution</a:t>
            </a:r>
          </a:p>
        </p:txBody>
      </p:sp>
      <p:sp>
        <p:nvSpPr>
          <p:cNvPr id="3" name="Subtitle 2"/>
          <p:cNvSpPr>
            <a:spLocks noGrp="1"/>
          </p:cNvSpPr>
          <p:nvPr>
            <p:ph type="subTitle" idx="1"/>
          </p:nvPr>
        </p:nvSpPr>
        <p:spPr/>
        <p:txBody>
          <a:bodyPr/>
          <a:lstStyle/>
          <a:p>
            <a:r>
              <a:t>Solving hybrid conversational + traditional UI workflows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an Event Bus?</a:t>
            </a:r>
          </a:p>
        </p:txBody>
      </p:sp>
      <p:sp>
        <p:nvSpPr>
          <p:cNvPr id="3" name="Content Placeholder 2"/>
          <p:cNvSpPr>
            <a:spLocks noGrp="1"/>
          </p:cNvSpPr>
          <p:nvPr>
            <p:ph idx="1"/>
          </p:nvPr>
        </p:nvSpPr>
        <p:spPr/>
        <p:txBody>
          <a:bodyPr/>
          <a:lstStyle/>
          <a:p/>
          <a:p>
            <a:pPr>
              <a:defRPr sz="2000"/>
            </a:pPr>
            <a:r>
              <a:t>Distributed micro‑frontends: member enrollment, commissions, reports…</a:t>
            </a:r>
          </a:p>
          <a:p>
            <a:pPr>
              <a:defRPr sz="2000"/>
            </a:pPr>
            <a:r>
              <a:t>Clicks happen outside the LLM turn cycle—assistant loses context</a:t>
            </a:r>
          </a:p>
          <a:p>
            <a:pPr>
              <a:defRPr sz="2000"/>
            </a:pPr>
            <a:r>
              <a:t>No standard event schema: each team invents payloads → brittle</a:t>
            </a:r>
          </a:p>
          <a:p>
            <a:pPr>
              <a:defRPr sz="2000"/>
            </a:pPr>
            <a:r>
              <a:t>Security &amp; observability gaps: PII risk, no end‑to‑end traces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Solution Architecture</a:t>
            </a:r>
          </a:p>
        </p:txBody>
      </p:sp>
      <p:sp>
        <p:nvSpPr>
          <p:cNvPr id="3" name="Content Placeholder 2"/>
          <p:cNvSpPr>
            <a:spLocks noGrp="1"/>
          </p:cNvSpPr>
          <p:nvPr>
            <p:ph idx="1"/>
          </p:nvPr>
        </p:nvSpPr>
        <p:spPr/>
        <p:txBody>
          <a:bodyPr/>
          <a:lstStyle/>
          <a:p/>
          <a:p>
            <a:pPr>
              <a:defRPr sz="2000"/>
            </a:pPr>
            <a:r>
              <a:t>Tiny @lingo/bridge SDK inside every MFE (auto‑instrument + emit CloudEvents)</a:t>
            </a:r>
          </a:p>
          <a:p>
            <a:pPr>
              <a:defRPr sz="2000"/>
            </a:pPr>
            <a:r>
              <a:t>ChatShell EventBus validates origin, streams events over WSS</a:t>
            </a:r>
          </a:p>
          <a:p>
            <a:pPr>
              <a:defRPr sz="2000"/>
            </a:pPr>
            <a:r>
              <a:t>Stateless Event‑Gateway verifies JWT, appends trace context, publishes to Kafka</a:t>
            </a:r>
          </a:p>
          <a:p>
            <a:pPr>
              <a:defRPr sz="2000"/>
            </a:pPr>
            <a:r>
              <a:t>LangGraph UiEventRouter subscribes, updates conversation, triggers tools</a:t>
            </a:r>
          </a:p>
          <a:p>
            <a:pPr>
              <a:defRPr sz="2000"/>
            </a:pPr>
            <a:r>
              <a:t>Kafka/NATS fan‑out → analytics, audit, replay</a:t>
            </a:r>
          </a:p>
        </p:txBody>
      </p:sp>
      <p:sp>
        <p:nvSpPr>
          <p:cNvPr id="4" name="Rectangle 3"/>
          <p:cNvSpPr/>
          <p:nvPr/>
        </p:nvSpPr>
        <p:spPr>
          <a:xfrm>
            <a:off x="6400800" y="1828800"/>
            <a:ext cx="2743200" cy="2743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Insert rendered diagram here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Sequence of Events</a:t>
            </a:r>
          </a:p>
        </p:txBody>
      </p:sp>
      <p:sp>
        <p:nvSpPr>
          <p:cNvPr id="3" name="Content Placeholder 2"/>
          <p:cNvSpPr>
            <a:spLocks noGrp="1"/>
          </p:cNvSpPr>
          <p:nvPr>
            <p:ph idx="1"/>
          </p:nvPr>
        </p:nvSpPr>
        <p:spPr/>
        <p:txBody>
          <a:bodyPr/>
          <a:lstStyle/>
          <a:p/>
          <a:p>
            <a:pPr>
              <a:defRPr sz="2000"/>
            </a:pPr>
            <a:r>
              <a:t>User clicks 'Submit Enrollment' inside MFE</a:t>
            </a:r>
          </a:p>
          <a:p>
            <a:pPr>
              <a:defRPr sz="2000"/>
            </a:pPr>
            <a:r>
              <a:t>@lingo/bridge emits 'lingo.member.form.submitted' CloudEvent</a:t>
            </a:r>
          </a:p>
          <a:p>
            <a:pPr>
              <a:defRPr sz="2000"/>
            </a:pPr>
            <a:r>
              <a:t>ChatShell forwards via WSS → Event‑Gateway → Kafka</a:t>
            </a:r>
          </a:p>
          <a:p>
            <a:pPr>
              <a:defRPr sz="2000"/>
            </a:pPr>
            <a:r>
              <a:t>LangGraph consumes, invokes enrollment API, crafts follow‑up prompt</a:t>
            </a:r>
          </a:p>
          <a:p>
            <a:pPr>
              <a:defRPr sz="2000"/>
            </a:pPr>
            <a:r>
              <a:t>Bot responds: 'Form received—send ID card?' (context preserved)</a:t>
            </a:r>
          </a:p>
        </p:txBody>
      </p:sp>
      <p:sp>
        <p:nvSpPr>
          <p:cNvPr id="4" name="Rectangle 3"/>
          <p:cNvSpPr/>
          <p:nvPr/>
        </p:nvSpPr>
        <p:spPr>
          <a:xfrm>
            <a:off x="6400800" y="1828800"/>
            <a:ext cx="2743200" cy="2743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Insert rendered diagram 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