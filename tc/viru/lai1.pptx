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5EB8"/>
                </a:solidFill>
              </a:defRPr>
            </a:pPr>
            <a:r>
              <a:t>LingoGen Studio – Accelerating AI Agent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Low-code / no-code environment for rapidly building enterprise AI agents</a:t>
            </a:r>
          </a:p>
          <a:p>
            <a:pPr>
              <a:defRPr sz="1400"/>
            </a:pPr>
            <a:r>
              <a:t>Drag-and-drop workflows for multi-agent orchestration (LangGraph-based)</a:t>
            </a:r>
          </a:p>
          <a:p>
            <a:pPr>
              <a:defRPr sz="1400"/>
            </a:pPr>
            <a:r>
              <a:t>Built-in connectors to enterprise data sources and tools</a:t>
            </a:r>
          </a:p>
          <a:p>
            <a:pPr>
              <a:defRPr sz="1400"/>
            </a:pPr>
            <a:r>
              <a:t>Prompt &amp; schema versioning for reliability</a:t>
            </a:r>
          </a:p>
          <a:p>
            <a:pPr>
              <a:defRPr sz="1400"/>
            </a:pPr>
            <a:r>
              <a:t>Offline evaluation environment for safety and accuracy</a:t>
            </a:r>
          </a:p>
          <a:p>
            <a:pPr>
              <a:defRPr sz="1400"/>
            </a:pPr>
            <a:r>
              <a:t>Cuts development time from weeks to days and enables non-ML engineers to contribute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657600"/>
            <a:ext cx="1828800" cy="914400"/>
          </a:xfrm>
          <a:prstGeom prst="round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Developer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3886200"/>
            <a:ext cx="457200" cy="457200"/>
          </a:xfrm>
          <a:prstGeom prst="rightArrow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3657600"/>
            <a:ext cx="1828800" cy="914400"/>
          </a:xfrm>
          <a:prstGeom prst="round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LingoGen Studio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3886200"/>
            <a:ext cx="457200" cy="457200"/>
          </a:xfrm>
          <a:prstGeom prst="rightArrow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3657600"/>
            <a:ext cx="1828800" cy="914400"/>
          </a:xfrm>
          <a:prstGeom prst="round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Agent Blueprint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3886200"/>
            <a:ext cx="457200" cy="457200"/>
          </a:xfrm>
          <a:prstGeom prst="rightArrow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3657600"/>
            <a:ext cx="1828800" cy="914400"/>
          </a:xfrm>
          <a:prstGeom prst="round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LingoAI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5EB8"/>
                </a:solidFill>
              </a:defRPr>
            </a:pPr>
            <a:r>
              <a:t>LingoAI Platform, Roadmap &amp; Enterprise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Multi-agent conversational AI platform for brokers, employers, and internal teams</a:t>
            </a:r>
          </a:p>
          <a:p>
            <a:pPr>
              <a:defRPr sz="1400"/>
            </a:pPr>
            <a:r>
              <a:t>Supports secure workflows: enrollment, plan recommendations, reporting, inquiries</a:t>
            </a:r>
          </a:p>
          <a:p>
            <a:pPr>
              <a:defRPr sz="1400"/>
            </a:pPr>
            <a:r>
              <a:t>Current: Authentication/Authorization, RAG Q&amp;A, Multi-agent collaboration, fine-tuned prompts</a:t>
            </a:r>
          </a:p>
          <a:p>
            <a:pPr>
              <a:defRPr sz="1400"/>
            </a:pPr>
            <a:r>
              <a:t>Enterprise partnership with OptumAI:</a:t>
            </a:r>
          </a:p>
          <a:p>
            <a:pPr>
              <a:defRPr sz="1400"/>
            </a:pPr>
            <a:r>
              <a:t>  • Building enterprise Agent Catalog &amp; Registry</a:t>
            </a:r>
          </a:p>
          <a:p>
            <a:pPr>
              <a:defRPr sz="1400"/>
            </a:pPr>
            <a:r>
              <a:t>  • Publishing LingoAI reusable libraries into enterprise AI catalog</a:t>
            </a:r>
          </a:p>
          <a:p>
            <a:pPr>
              <a:defRPr sz="1400"/>
            </a:pPr>
            <a:r>
              <a:t>  • Collaborating on MCP Gateway for federated interoperability</a:t>
            </a:r>
          </a:p>
          <a:p>
            <a:pPr>
              <a:defRPr sz="1400"/>
            </a:pPr>
            <a:r>
              <a:t>Roadmap: Q1 – LingoGen GA, Q2 – Multi-agent coalition &amp; MCP Gateway, Q3 – External vendor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2286000" cy="9144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Now</a:t>
            </a:r>
          </a:p>
          <a:p>
            <a:pPr>
              <a:defRPr sz="1200" b="1"/>
            </a:pPr>
            <a:r>
              <a:t>LingoGen GA</a:t>
            </a:r>
          </a:p>
          <a:p>
            <a:pPr>
              <a:defRPr sz="1200" b="1"/>
            </a:pPr>
            <a:r>
              <a:t>Personalization Agent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3886200"/>
            <a:ext cx="457200" cy="457200"/>
          </a:xfrm>
          <a:prstGeom prst="rightArrow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3657600"/>
            <a:ext cx="2286000" cy="9144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Next</a:t>
            </a:r>
          </a:p>
          <a:p>
            <a:pPr>
              <a:defRPr sz="1200" b="1"/>
            </a:pPr>
            <a:r>
              <a:t>Multi-agent coalition</a:t>
            </a:r>
          </a:p>
          <a:p>
            <a:pPr>
              <a:defRPr sz="1200" b="1"/>
            </a:pPr>
            <a:r>
              <a:t>MCP Gateway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86400" y="3886200"/>
            <a:ext cx="457200" cy="457200"/>
          </a:xfrm>
          <a:prstGeom prst="rightArrow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3657600"/>
            <a:ext cx="2286000" cy="9144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Later</a:t>
            </a:r>
          </a:p>
          <a:p>
            <a:pPr>
              <a:defRPr sz="1200" b="1"/>
            </a:pPr>
            <a:r>
              <a:t>External vendor integration</a:t>
            </a:r>
          </a:p>
          <a:p>
            <a:pPr>
              <a:defRPr sz="1200" b="1"/>
            </a:pPr>
            <a:r>
              <a:t>UACP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5EB8"/>
                </a:solidFill>
              </a:defRPr>
            </a:pPr>
            <a:r>
              <a:t>LingoAI – Security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Security Highlights:</a:t>
            </a:r>
          </a:p>
          <a:p>
            <a:pPr>
              <a:defRPr sz="1400"/>
            </a:pPr>
            <a:r>
              <a:t>  • Granular role-based and attribute-based access control</a:t>
            </a:r>
          </a:p>
          <a:p>
            <a:pPr>
              <a:defRPr sz="1400"/>
            </a:pPr>
            <a:r>
              <a:t>  • Agent-level kill-switch &amp; isolation</a:t>
            </a:r>
          </a:p>
          <a:p>
            <a:pPr>
              <a:defRPr sz="1400"/>
            </a:pPr>
            <a:r>
              <a:t>  • DLP &amp; sensitive data filtering</a:t>
            </a:r>
          </a:p>
          <a:p>
            <a:pPr>
              <a:defRPr sz="1400"/>
            </a:pPr>
            <a:r>
              <a:t>  • Sandboxed execution for external tools</a:t>
            </a:r>
          </a:p>
          <a:p>
            <a:pPr>
              <a:defRPr sz="1400"/>
            </a:pPr>
            <a:r>
              <a:t>Observability Highlights:</a:t>
            </a:r>
          </a:p>
          <a:p>
            <a:pPr>
              <a:defRPr sz="1400"/>
            </a:pPr>
            <a:r>
              <a:t>  • End-to-end interaction tracing (user → agent → tools → response)</a:t>
            </a:r>
          </a:p>
          <a:p>
            <a:pPr>
              <a:defRPr sz="1400"/>
            </a:pPr>
            <a:r>
              <a:t>  • Performance metrics: latency, token usage, model versioning</a:t>
            </a:r>
          </a:p>
          <a:p>
            <a:pPr>
              <a:defRPr sz="1400"/>
            </a:pPr>
            <a:r>
              <a:t>  • Accuracy scoring &amp; human feedback loops</a:t>
            </a:r>
          </a:p>
          <a:p>
            <a:pPr>
              <a:defRPr sz="1400"/>
            </a:pPr>
            <a:r>
              <a:t>  • Dynatrace integration for enterprise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3657600" cy="18288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Security</a:t>
            </a:r>
          </a:p>
          <a:p>
            <a:pPr>
              <a:defRPr sz="1200" b="1"/>
            </a:pPr>
            <a:r>
              <a:t>- RBAC/ABAC</a:t>
            </a:r>
          </a:p>
          <a:p>
            <a:pPr>
              <a:defRPr sz="1200" b="1"/>
            </a:pPr>
            <a:r>
              <a:t>- Kill-switch</a:t>
            </a:r>
          </a:p>
          <a:p>
            <a:pPr>
              <a:defRPr sz="1200" b="1"/>
            </a:pPr>
            <a:r>
              <a:t>- DLP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657600" cy="18288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Observability</a:t>
            </a:r>
          </a:p>
          <a:p>
            <a:pPr>
              <a:defRPr sz="1200" b="1"/>
            </a:pPr>
            <a:r>
              <a:t>- Interaction tracing</a:t>
            </a:r>
          </a:p>
          <a:p>
            <a:pPr>
              <a:defRPr sz="1200" b="1"/>
            </a:pPr>
            <a:r>
              <a:t>- Performance metrics</a:t>
            </a:r>
          </a:p>
          <a:p>
            <a:pPr>
              <a:defRPr sz="1200" b="1"/>
            </a:pPr>
            <a:r>
              <a:t>- Accuracy feedback</a:t>
            </a:r>
          </a:p>
          <a:p>
            <a:pPr>
              <a:defRPr sz="1200" b="1"/>
            </a:pPr>
            <a:r>
              <a:t>- Dynatrace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