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F5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Top Performer Recognition – Edu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1170432"/>
            <a:ext cx="5669280" cy="5120640"/>
          </a:xfrm>
          <a:prstGeom prst="roundRect">
            <a:avLst/>
          </a:prstGeom>
          <a:solidFill>
            <a:srgbClr val="C8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566928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243D"/>
                </a:solidFill>
              </a:rPr>
              <a:t>2025 YTD Performance Highlights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1072" y="1170432"/>
            <a:ext cx="2560320" cy="5120640"/>
          </a:xfrm>
          <a:prstGeom prst="roundRect">
            <a:avLst/>
          </a:prstGeom>
          <a:solidFill>
            <a:srgbClr val="C8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256032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801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243D"/>
                </a:solidFill>
              </a:rPr>
              <a:t>Profile Metadata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52120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4243D"/>
                </a:solidFill>
              </a:defRPr>
            </a:pPr>
            <a:r>
              <a:t>• Leads as Solution Architect; applying AI-powered tools for solution diagrams and design efficiency.</a:t>
            </a:r>
          </a:p>
          <a:p>
            <a:pPr>
              <a:defRPr sz="1400">
                <a:solidFill>
                  <a:srgbClr val="14243D"/>
                </a:solidFill>
              </a:defRPr>
            </a:pPr>
            <a:r>
              <a:t>• Researches and leverages emerging AI/ML tools to support business solutions and innovation.</a:t>
            </a:r>
          </a:p>
          <a:p>
            <a:pPr>
              <a:defRPr sz="1400">
                <a:solidFill>
                  <a:srgbClr val="14243D"/>
                </a:solidFill>
              </a:defRPr>
            </a:pPr>
            <a:r>
              <a:t>• Provides architectural recommendations on Level-Funded Renewal Offerings, Rate Engine Consolidation, and NICE Migration.</a:t>
            </a:r>
          </a:p>
          <a:p>
            <a:pPr>
              <a:defRPr sz="1400">
                <a:solidFill>
                  <a:srgbClr val="14243D"/>
                </a:solidFill>
              </a:defRPr>
            </a:pPr>
            <a:r>
              <a:t>• Supports multiple AI-related projects; demonstrates strong problem-solving and business impact.</a:t>
            </a:r>
          </a:p>
          <a:p>
            <a:pPr>
              <a:defRPr sz="1400">
                <a:solidFill>
                  <a:srgbClr val="14243D"/>
                </a:solidFill>
              </a:defRPr>
            </a:pPr>
            <a:r>
              <a:t>• Actively developing AI expertise through Dojo training; applying learnings in projects.</a:t>
            </a:r>
          </a:p>
          <a:p>
            <a:pPr>
              <a:defRPr sz="1400">
                <a:solidFill>
                  <a:srgbClr val="14243D"/>
                </a:solidFill>
              </a:defRPr>
            </a:pPr>
            <a:r>
              <a:t>• Strengthening leadership by facilitating collaboration and knowledge sharing within the team.</a:t>
            </a:r>
          </a:p>
          <a:p>
            <a:pPr>
              <a:defRPr sz="1400">
                <a:solidFill>
                  <a:srgbClr val="14243D"/>
                </a:solidFill>
              </a:defRPr>
            </a:pPr>
            <a:r>
              <a:t>• Ensures designed solutions meet enterprise security standards and requirements.</a:t>
            </a:r>
          </a:p>
          <a:p>
            <a:pPr>
              <a:defRPr sz="1400">
                <a:solidFill>
                  <a:srgbClr val="14243D"/>
                </a:solidFill>
              </a:defRPr>
            </a:pPr>
            <a:r>
              <a:t>• Stays current with AI/Cloud advancements; effectively applies them to drive business value.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463040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4243D"/>
                </a:solidFill>
              </a:rPr>
              <a:t>Grade: </a:t>
            </a:r>
            <a:r>
              <a:rPr sz="1400">
                <a:solidFill>
                  <a:srgbClr val="787878"/>
                </a:solidFill>
              </a:rPr>
              <a:t>[Placeholder]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847088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4243D"/>
                </a:solidFill>
              </a:rPr>
              <a:t>Role: </a:t>
            </a:r>
            <a:r>
              <a:rPr sz="1400">
                <a:solidFill>
                  <a:srgbClr val="787878"/>
                </a:solidFill>
              </a:rPr>
              <a:t>Top Performer – Lead Solution Architect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231136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4243D"/>
                </a:solidFill>
              </a:rPr>
              <a:t>Span of Control: </a:t>
            </a:r>
            <a:r>
              <a:rPr sz="1400">
                <a:solidFill>
                  <a:srgbClr val="787878"/>
                </a:solidFill>
              </a:rPr>
              <a:t>[Placeholder]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615184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4243D"/>
                </a:solidFill>
              </a:rPr>
              <a:t>Career Development: </a:t>
            </a:r>
            <a:r>
              <a:rPr sz="1400">
                <a:solidFill>
                  <a:srgbClr val="787878"/>
                </a:solidFill>
              </a:rPr>
              <a:t>[Placeholder]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999232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4243D"/>
                </a:solidFill>
              </a:rPr>
              <a:t>Retention Risk: </a:t>
            </a:r>
            <a:r>
              <a:rPr sz="1400">
                <a:solidFill>
                  <a:srgbClr val="787878"/>
                </a:solidFill>
              </a:rPr>
              <a:t>[Placeholder]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