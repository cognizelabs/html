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1F5F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8412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FFFFFF"/>
                </a:solidFill>
              </a:rPr>
              <a:t>Top Contributor Recognition – Amrita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38912" y="1170432"/>
            <a:ext cx="5669280" cy="5120640"/>
          </a:xfrm>
          <a:prstGeom prst="roundRect">
            <a:avLst/>
          </a:prstGeom>
          <a:solidFill>
            <a:srgbClr val="C8DC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365760" y="1097280"/>
            <a:ext cx="5669280" cy="5120640"/>
          </a:xfrm>
          <a:prstGeom prst="roundRect">
            <a:avLst/>
          </a:prstGeom>
          <a:solidFill>
            <a:srgbClr val="FFFFFF"/>
          </a:solidFill>
          <a:ln>
            <a:solidFill>
              <a:srgbClr val="90CA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280160"/>
            <a:ext cx="5120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4243D"/>
                </a:solidFill>
              </a:rPr>
              <a:t>2025 YTD Performance Highlights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91072" y="1170432"/>
            <a:ext cx="2560320" cy="5120640"/>
          </a:xfrm>
          <a:prstGeom prst="roundRect">
            <a:avLst/>
          </a:prstGeom>
          <a:solidFill>
            <a:srgbClr val="C8DC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217920" y="1097280"/>
            <a:ext cx="2560320" cy="5120640"/>
          </a:xfrm>
          <a:prstGeom prst="roundRect">
            <a:avLst/>
          </a:prstGeom>
          <a:solidFill>
            <a:srgbClr val="FFFFFF"/>
          </a:solidFill>
          <a:ln>
            <a:solidFill>
              <a:srgbClr val="90CA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1280160"/>
            <a:ext cx="2011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4243D"/>
                </a:solidFill>
              </a:rPr>
              <a:t>Profile Metadata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1463040"/>
            <a:ext cx="521208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14243D"/>
                </a:solidFill>
              </a:defRPr>
            </a:pPr>
            <a:r>
              <a:t>• Quickly ramped up within 5–6 months; became a key asset to the Lingo Core team.</a:t>
            </a:r>
          </a:p>
          <a:p>
            <a:pPr>
              <a:defRPr sz="1400">
                <a:solidFill>
                  <a:srgbClr val="14243D"/>
                </a:solidFill>
              </a:defRPr>
            </a:pPr>
            <a:r>
              <a:t>• Led design and implementation of LingoScope observability platform for transparency.</a:t>
            </a:r>
          </a:p>
          <a:p>
            <a:pPr>
              <a:defRPr sz="1400">
                <a:solidFill>
                  <a:srgbClr val="14243D"/>
                </a:solidFill>
              </a:defRPr>
            </a:pPr>
            <a:r>
              <a:t>• Built modules including log collector, OLTP interface, and dashboard for event tracing.</a:t>
            </a:r>
          </a:p>
          <a:p>
            <a:pPr>
              <a:defRPr sz="1400">
                <a:solidFill>
                  <a:srgbClr val="14243D"/>
                </a:solidFill>
              </a:defRPr>
            </a:pPr>
            <a:r>
              <a:t>• Driving real-time integration with Dynatrace and Davis AI for system metrics &amp; agent performance.</a:t>
            </a:r>
          </a:p>
          <a:p>
            <a:pPr>
              <a:defRPr sz="1400">
                <a:solidFill>
                  <a:srgbClr val="14243D"/>
                </a:solidFill>
              </a:defRPr>
            </a:pPr>
            <a:r>
              <a:t>• Working on LLM-as-Judge to evaluate AI responses; ensuring accuracy and reliability.</a:t>
            </a:r>
          </a:p>
          <a:p>
            <a:pPr>
              <a:defRPr sz="1400">
                <a:solidFill>
                  <a:srgbClr val="14243D"/>
                </a:solidFill>
              </a:defRPr>
            </a:pPr>
            <a:r>
              <a:t>• Collaborates with Anar and Aarti on secure log design and observability enhancements.</a:t>
            </a:r>
          </a:p>
          <a:p>
            <a:pPr>
              <a:defRPr sz="1400">
                <a:solidFill>
                  <a:srgbClr val="14243D"/>
                </a:solidFill>
              </a:defRPr>
            </a:pPr>
            <a:r>
              <a:t>• Strong technical talent and manager; open to discussions and team collaboration.</a:t>
            </a:r>
          </a:p>
          <a:p>
            <a:pPr>
              <a:defRPr sz="1400">
                <a:solidFill>
                  <a:srgbClr val="14243D"/>
                </a:solidFill>
              </a:defRPr>
            </a:pPr>
            <a:r>
              <a:t>• Actively pursuing AI Dojo training; demonstrates curiosity and continuous learning.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46520" y="1463040"/>
            <a:ext cx="21945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400">
                <a:solidFill>
                  <a:srgbClr val="14243D"/>
                </a:solidFill>
              </a:rPr>
              <a:t>Grade: </a:t>
            </a:r>
            <a:r>
              <a:rPr sz="1400">
                <a:solidFill>
                  <a:srgbClr val="787878"/>
                </a:solidFill>
              </a:rPr>
              <a:t>[Placeholder]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46520" y="1847088"/>
            <a:ext cx="21945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400">
                <a:solidFill>
                  <a:srgbClr val="14243D"/>
                </a:solidFill>
              </a:rPr>
              <a:t>Role: </a:t>
            </a:r>
            <a:r>
              <a:rPr sz="1400">
                <a:solidFill>
                  <a:srgbClr val="787878"/>
                </a:solidFill>
              </a:rPr>
              <a:t>Top Contributor – Lingo Core Platform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46520" y="2231136"/>
            <a:ext cx="21945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400">
                <a:solidFill>
                  <a:srgbClr val="14243D"/>
                </a:solidFill>
              </a:rPr>
              <a:t>Span of Control: </a:t>
            </a:r>
            <a:r>
              <a:rPr sz="1400">
                <a:solidFill>
                  <a:srgbClr val="787878"/>
                </a:solidFill>
              </a:rPr>
              <a:t>[Placeholder]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46520" y="2615184"/>
            <a:ext cx="21945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400">
                <a:solidFill>
                  <a:srgbClr val="14243D"/>
                </a:solidFill>
              </a:rPr>
              <a:t>Career Development: </a:t>
            </a:r>
            <a:r>
              <a:rPr sz="1400">
                <a:solidFill>
                  <a:srgbClr val="787878"/>
                </a:solidFill>
              </a:rPr>
              <a:t>[Placeholder]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46520" y="2999232"/>
            <a:ext cx="21945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400">
                <a:solidFill>
                  <a:srgbClr val="14243D"/>
                </a:solidFill>
              </a:rPr>
              <a:t>Retention Risk: </a:t>
            </a:r>
            <a:r>
              <a:rPr sz="1400">
                <a:solidFill>
                  <a:srgbClr val="787878"/>
                </a:solidFill>
              </a:rPr>
              <a:t>[Placeholder]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