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B3D91"/>
                </a:solidFill>
              </a:rPr>
              <a:t>LingoAI 2025 Virtual On‑Site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Who we are: Unified AI platform orchestrating multi‑agent workflows for enrollment, plan Q&amp;A, reporting &amp; more</a:t>
            </a:r>
          </a:p>
          <a:p>
            <a:pPr>
              <a:defRPr sz="1600"/>
            </a:pPr>
            <a:r>
              <a:t>Why it matters: ↓ call‑center load | ↑ operational efficiency | ⚖ compliance‑ready answers</a:t>
            </a:r>
          </a:p>
          <a:p>
            <a:pPr>
              <a:defRPr sz="1600"/>
            </a:pPr>
            <a:r>
              <a:t>Today’s focus: What we’ve shipped, lessons learned, and where we’re heading next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B3D91"/>
                </a:solidFill>
              </a:rPr>
              <a:t>Key Wins (last 12 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0B3D91"/>
                </a:solidFill>
              </a:defRPr>
            </a:pPr>
            <a:r>
              <a:t>Agents &amp; Use Cases (team‑owned / supported):</a:t>
            </a:r>
          </a:p>
          <a:p>
            <a:pPr lvl="1">
              <a:defRPr sz="1400">
                <a:solidFill>
                  <a:srgbClr val="0B3D91"/>
                </a:solidFill>
              </a:defRPr>
            </a:pPr>
            <a:r>
              <a:t>Personalization Agent – ⭐ team‑owned (pilot complete)</a:t>
            </a:r>
          </a:p>
          <a:p>
            <a:pPr lvl="1">
              <a:defRPr sz="1400">
                <a:solidFill>
                  <a:srgbClr val="0B3D91"/>
                </a:solidFill>
              </a:defRPr>
            </a:pPr>
            <a:r>
              <a:t>Membership Enrollment Agent – supporting production rollout</a:t>
            </a:r>
          </a:p>
          <a:p>
            <a:pPr lvl="1">
              <a:defRPr sz="1400">
                <a:solidFill>
                  <a:srgbClr val="0B3D91"/>
                </a:solidFill>
              </a:defRPr>
            </a:pPr>
            <a:r>
              <a:t>Surest Plan Agent – supporting production rollout</a:t>
            </a:r>
          </a:p>
          <a:p>
            <a:pPr lvl="1">
              <a:defRPr sz="1400">
                <a:solidFill>
                  <a:srgbClr val="0B3D91"/>
                </a:solidFill>
              </a:defRPr>
            </a:pPr>
            <a:r>
              <a:t>Reporting &amp; Plan‑Rec agent scaffolds built</a:t>
            </a:r>
          </a:p>
          <a:p>
            <a:pPr>
              <a:defRPr b="1" sz="1600">
                <a:solidFill>
                  <a:srgbClr val="008080"/>
                </a:solidFill>
              </a:defRPr>
            </a:pPr>
            <a:r>
              <a:t>Automation &amp; Ops:</a:t>
            </a:r>
          </a:p>
          <a:p>
            <a:pPr lvl="1">
              <a:defRPr sz="1400">
                <a:solidFill>
                  <a:srgbClr val="008080"/>
                </a:solidFill>
              </a:defRPr>
            </a:pPr>
            <a:r>
              <a:t>Email‑triage automation in production</a:t>
            </a:r>
          </a:p>
          <a:p>
            <a:pPr lvl="1">
              <a:defRPr sz="1400">
                <a:solidFill>
                  <a:srgbClr val="008080"/>
                </a:solidFill>
              </a:defRPr>
            </a:pPr>
            <a:r>
              <a:t>Auto‑log routing → &gt;90 % ticket‑match accuracy</a:t>
            </a:r>
          </a:p>
          <a:p>
            <a:pPr lvl="1">
              <a:defRPr sz="1400">
                <a:solidFill>
                  <a:srgbClr val="008080"/>
                </a:solidFill>
              </a:defRPr>
            </a:pPr>
            <a:r>
              <a:t>ODM support reducing manual review time</a:t>
            </a:r>
          </a:p>
          <a:p>
            <a:pPr>
              <a:defRPr b="1" sz="1600">
                <a:solidFill>
                  <a:srgbClr val="FF8C00"/>
                </a:solidFill>
              </a:defRPr>
            </a:pPr>
            <a:r>
              <a:t>Platform &amp; Ecosystem:</a:t>
            </a:r>
          </a:p>
          <a:p>
            <a:pPr lvl="1">
              <a:defRPr sz="1400">
                <a:solidFill>
                  <a:srgbClr val="FF8C00"/>
                </a:solidFill>
              </a:defRPr>
            </a:pPr>
            <a:r>
              <a:t>Authentication &amp; Authorization framework live</a:t>
            </a:r>
          </a:p>
          <a:p>
            <a:pPr lvl="1">
              <a:defRPr sz="1400">
                <a:solidFill>
                  <a:srgbClr val="FF8C00"/>
                </a:solidFill>
              </a:defRPr>
            </a:pPr>
            <a:r>
              <a:t>Offline evaluation harness operational</a:t>
            </a:r>
          </a:p>
          <a:p>
            <a:pPr lvl="1">
              <a:defRPr sz="1400">
                <a:solidFill>
                  <a:srgbClr val="FF8C00"/>
                </a:solidFill>
              </a:defRPr>
            </a:pPr>
            <a:r>
              <a:t>Prompt fine‑tuning toolkit in production</a:t>
            </a:r>
          </a:p>
          <a:p>
            <a:pPr lvl="1">
              <a:defRPr sz="1400">
                <a:solidFill>
                  <a:srgbClr val="FF8C00"/>
                </a:solidFill>
              </a:defRPr>
            </a:pPr>
            <a:r>
              <a:t>LingoAI Coalition Site launched (SDKs, docs, roadmap)</a:t>
            </a:r>
          </a:p>
          <a:p>
            <a:pPr lvl="1">
              <a:defRPr sz="1400">
                <a:solidFill>
                  <a:srgbClr val="FF8C00"/>
                </a:solidFill>
              </a:defRPr>
            </a:pPr>
            <a:r>
              <a:t>4 SDKs listed on OptumAI Catalog</a:t>
            </a:r>
          </a:p>
          <a:p>
            <a:pPr lvl="1">
              <a:defRPr sz="1400">
                <a:solidFill>
                  <a:srgbClr val="FF8C00"/>
                </a:solidFill>
              </a:defRPr>
            </a:pPr>
            <a:r>
              <a:t>A2A / MCP proof‑of‑concept complete</a:t>
            </a:r>
          </a:p>
          <a:p>
            <a:pPr lvl="1">
              <a:defRPr sz="1400">
                <a:solidFill>
                  <a:srgbClr val="FF8C00"/>
                </a:solidFill>
              </a:defRPr>
            </a:pPr>
            <a:r>
              <a:t>Data platform v1 ingests 2 Bn events/day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B3D91"/>
                </a:solidFill>
              </a:rPr>
              <a:t>Now &amp;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>
                <a:solidFill>
                  <a:srgbClr val="0B3D91"/>
                </a:solidFill>
              </a:defRPr>
            </a:pPr>
            <a:r>
              <a:t>Active Workstreams (Q3–Q4 2025):</a:t>
            </a:r>
          </a:p>
          <a:p>
            <a:pPr lvl="1">
              <a:defRPr sz="1400">
                <a:solidFill>
                  <a:srgbClr val="0B3D91"/>
                </a:solidFill>
              </a:defRPr>
            </a:pPr>
            <a:r>
              <a:t>LingoScope observability – full telemetry, Dynatrace integration sprint</a:t>
            </a:r>
          </a:p>
          <a:p>
            <a:pPr lvl="1">
              <a:defRPr sz="1400">
                <a:solidFill>
                  <a:srgbClr val="0B3D91"/>
                </a:solidFill>
              </a:defRPr>
            </a:pPr>
            <a:r>
              <a:t>Agent expansion – Reporting, Plan Recommendation, 'LingoMail' routing</a:t>
            </a:r>
          </a:p>
          <a:p>
            <a:pPr lvl="1">
              <a:defRPr sz="1400">
                <a:solidFill>
                  <a:srgbClr val="0B3D91"/>
                </a:solidFill>
              </a:defRPr>
            </a:pPr>
            <a:r>
              <a:t>Data platform v2 – add broker email &amp; Slack logs, S3 archival</a:t>
            </a:r>
          </a:p>
          <a:p>
            <a:pPr lvl="1">
              <a:defRPr sz="1400">
                <a:solidFill>
                  <a:srgbClr val="0B3D91"/>
                </a:solidFill>
              </a:defRPr>
            </a:pPr>
            <a:r>
              <a:t>UACP (Unified Agent Comms Protocol) – align scopes w/ EIS, security review</a:t>
            </a:r>
          </a:p>
          <a:p>
            <a:pPr>
              <a:defRPr b="1" sz="1600">
                <a:solidFill>
                  <a:srgbClr val="0B3D91"/>
                </a:solidFill>
              </a:defRPr>
            </a:pPr>
            <a:r>
              <a:t>Challenges &amp; Mitigations:</a:t>
            </a:r>
          </a:p>
          <a:p>
            <a:pPr lvl="1">
              <a:defRPr sz="1400">
                <a:solidFill>
                  <a:srgbClr val="0B3D91"/>
                </a:solidFill>
              </a:defRPr>
            </a:pPr>
            <a:r>
              <a:t>Data‑source silos → Slower answer accuracy → Central schema registry; shared ingestion templates</a:t>
            </a:r>
          </a:p>
          <a:p>
            <a:pPr lvl="1">
              <a:defRPr sz="1400">
                <a:solidFill>
                  <a:srgbClr val="0B3D91"/>
                </a:solidFill>
              </a:defRPr>
            </a:pPr>
            <a:r>
              <a:t>Rapid agent growth → Traceability gaps → Per‑agent IDs; kill‑switch &amp; IR runbooks (in rollout)</a:t>
            </a:r>
          </a:p>
          <a:p>
            <a:pPr lvl="1">
              <a:defRPr sz="1400">
                <a:solidFill>
                  <a:srgbClr val="0B3D91"/>
                </a:solidFill>
              </a:defRPr>
            </a:pPr>
            <a:r>
              <a:t>Change management → Adoption friction → Coalition site how‑to videos; office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