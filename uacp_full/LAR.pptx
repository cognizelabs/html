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Goal of this slide: give auditors context in 2 minutes. Stress business value and audit scope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Mermaid – High‑Level Architecture</a:t>
            </a:r>
          </a:p>
          <a:p>
            <a:r>
              <a:t>```mermaid</a:t>
            </a:r>
          </a:p>
          <a:p>
            <a:r>
              <a:t>graph TD</a:t>
            </a:r>
          </a:p>
          <a:p>
            <a:r>
              <a:t>  subgraph Frontend</a:t>
            </a:r>
          </a:p>
          <a:p>
            <a:r>
              <a:t>    ChatUI</a:t>
            </a:r>
          </a:p>
          <a:p>
            <a:r>
              <a:t>  end</a:t>
            </a:r>
          </a:p>
          <a:p>
            <a:r>
              <a:t>  subgraph LingoAI Core</a:t>
            </a:r>
          </a:p>
          <a:p>
            <a:r>
              <a:t>    PA[Primary Assistant]</a:t>
            </a:r>
          </a:p>
          <a:p>
            <a:r>
              <a:t>    CA[Domain Agents]</a:t>
            </a:r>
          </a:p>
          <a:p>
            <a:r>
              <a:t>    Tools[Tool Registry]</a:t>
            </a:r>
          </a:p>
          <a:p>
            <a:r>
              <a:t>    Vector[Vector DB]</a:t>
            </a:r>
          </a:p>
          <a:p>
            <a:r>
              <a:t>  end</a:t>
            </a:r>
          </a:p>
          <a:p>
            <a:r>
              <a:t>  ChatUI --&gt;|HTTPS| PA</a:t>
            </a:r>
          </a:p>
          <a:p>
            <a:r>
              <a:t>  PA --&gt; CA</a:t>
            </a:r>
          </a:p>
          <a:p>
            <a:r>
              <a:t>  CA --&gt; Tools</a:t>
            </a:r>
          </a:p>
          <a:p>
            <a:r>
              <a:t>  CA --&gt; Vector</a:t>
            </a:r>
          </a:p>
          <a:p>
            <a:r>
              <a:t>  subgraph Observability</a:t>
            </a:r>
          </a:p>
          <a:p>
            <a:r>
              <a:t>    Dynatrace</a:t>
            </a:r>
          </a:p>
          <a:p>
            <a:r>
              <a:t>    Mongo[Mongo Audit Log]</a:t>
            </a:r>
          </a:p>
          <a:p>
            <a:r>
              <a:t>  end</a:t>
            </a:r>
          </a:p>
          <a:p>
            <a:r>
              <a:t>  PA --&gt; Dynatrace</a:t>
            </a:r>
          </a:p>
          <a:p>
            <a:r>
              <a:t>  CA --&gt; Dynatrace</a:t>
            </a:r>
          </a:p>
          <a:p>
            <a:r>
              <a:t>  PA --&gt; Mongo</a:t>
            </a:r>
          </a:p>
          <a:p>
            <a:r>
              <a:t>  CA --&gt; Mongo</a:t>
            </a:r>
          </a:p>
          <a:p>
            <a:r>
              <a:t>  Tools --&gt;|API| External(OpenAI)</a:t>
            </a:r>
          </a:p>
          <a:p>
            <a:r>
              <a:t>```</a:t>
            </a:r>
          </a:p>
          <a:p/>
          <a:p>
            <a:r>
              <a:t>Mermaid – Runtime Sequence</a:t>
            </a:r>
          </a:p>
          <a:p>
            <a:r>
              <a:t>```mermaid</a:t>
            </a:r>
          </a:p>
          <a:p>
            <a:r>
              <a:t>sequenceDiagram</a:t>
            </a:r>
          </a:p>
          <a:p>
            <a:r>
              <a:t>  autonumber</a:t>
            </a:r>
          </a:p>
          <a:p>
            <a:r>
              <a:t>  participant U as User</a:t>
            </a:r>
          </a:p>
          <a:p>
            <a:r>
              <a:t>  participant PA as Primary Assistant</a:t>
            </a:r>
          </a:p>
          <a:p>
            <a:r>
              <a:t>  participant CA as Domain Agent</a:t>
            </a:r>
          </a:p>
          <a:p>
            <a:r>
              <a:t>  participant API as External API</a:t>
            </a:r>
          </a:p>
          <a:p>
            <a:r>
              <a:t>  participant DB as Vector DB</a:t>
            </a:r>
          </a:p>
          <a:p>
            <a:r>
              <a:t>  participant LOG as LingoScope Logs</a:t>
            </a:r>
          </a:p>
          <a:p>
            <a:r>
              <a:t>  participant DT as Dynatrace</a:t>
            </a:r>
          </a:p>
          <a:p>
            <a:r>
              <a:t>  U-&gt;&gt;PA: Ask intent</a:t>
            </a:r>
          </a:p>
          <a:p>
            <a:r>
              <a:t>  PA-&gt;&gt;CA: Delegate</a:t>
            </a:r>
          </a:p>
          <a:p>
            <a:r>
              <a:t>  CA-&gt;&gt;API: Call</a:t>
            </a:r>
          </a:p>
          <a:p>
            <a:r>
              <a:t>  API--&gt;&gt;CA: Data</a:t>
            </a:r>
          </a:p>
          <a:p>
            <a:r>
              <a:t>  CA-&gt;&gt;DB: Context</a:t>
            </a:r>
          </a:p>
          <a:p>
            <a:r>
              <a:t>  CA--&gt;&gt;PA: Answer</a:t>
            </a:r>
          </a:p>
          <a:p>
            <a:r>
              <a:t>  PA--&gt;&gt;U: Respond</a:t>
            </a:r>
          </a:p>
          <a:p>
            <a:r>
              <a:t>  PA-&gt;&gt;LOG: Store trace</a:t>
            </a:r>
          </a:p>
          <a:p>
            <a:r>
              <a:t>  PA-&gt;&gt;DT: Emit spans</a:t>
            </a:r>
          </a:p>
          <a:p>
            <a:r>
              <a:t>```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auditors through one control example – e.g., prompt‑injection mitigation – to show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confidence: invite random sampling, show preparedness, outline next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LingoAI Conversational AI – Audit Readiness 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Internal Audit Briefing  ·  June 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 ▸ Purpose &amp; Governance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Why LingoAI exists: AI‑assisted workflows for brokers, employers, and support teams</a:t>
            </a:r>
          </a:p>
          <a:p>
            <a:pPr/>
            <a:r>
              <a:t>Planned audit covers: data flow, security &amp; privacy, model lifecycle, observability</a:t>
            </a:r>
          </a:p>
          <a:p>
            <a:pPr/>
            <a:r>
              <a:t>Boundaries: production chatbots &amp; observability stack (Dynatrace+Mongo), no sandbox experiments</a:t>
            </a:r>
          </a:p>
          <a:p>
            <a:pPr/>
            <a:r>
              <a:t>Key stakeholders: Product Owner, Security Officer, Privacy Officer, ML Ops Lead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 ▸ Architecture &amp;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Event path: User → Primary Assistant → Domain Agent → Tools/DB → Response</a:t>
            </a:r>
          </a:p>
          <a:p>
            <a:pPr/>
            <a:r>
              <a:t>Secure layers: TLS 1.3 in transit, AES‑256 at rest, JWT auth &amp; RBAC enforced</a:t>
            </a:r>
          </a:p>
          <a:p>
            <a:pPr/>
            <a:r>
              <a:t>Observability: Dynatrace spans + Mongo audit logs correlated by conversation ID</a:t>
            </a:r>
          </a:p>
          <a:p>
            <a:pPr/>
            <a:r>
              <a:t>Mermaid diagrams for detail (see speaker notes / appendix)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▸ Security, Privacy &amp; Model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Access control: UUID ➜ cached profile ➜ Pydantic schema validation</a:t>
            </a:r>
          </a:p>
          <a:p>
            <a:pPr/>
            <a:r>
              <a:t>PII/PHI encryption, 7‑year retention, right‑to‑forget workflow</a:t>
            </a:r>
          </a:p>
          <a:p>
            <a:pPr/>
            <a:r>
              <a:t>Model lifecycle: gated release, rollback, monthly evaluation (hallucination &lt; 2%)</a:t>
            </a:r>
          </a:p>
          <a:p>
            <a:pPr/>
            <a:r>
              <a:t>Risk register aligned to HIPAA §164 &amp; UHG AI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▸ Audit Trail &amp; Meeting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Immutable chat transcripts &amp; reasoning logs (Mongo) – SHA‑256 hashed</a:t>
            </a:r>
          </a:p>
          <a:p>
            <a:pPr/>
            <a:r>
              <a:t>Live trace in Dynatrace linked to same Conversation ID</a:t>
            </a:r>
          </a:p>
          <a:p>
            <a:pPr/>
            <a:r>
              <a:t>Sampling method: auditors pick any conversation and we reproduce full trail</a:t>
            </a:r>
          </a:p>
          <a:p>
            <a:pPr/>
            <a:r>
              <a:t>Next steps: share control catalog PDF; schedule log‑walkthrough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